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2031949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31949" y="3931920"/>
            <a:ext cx="2031949" cy="64008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3931920"/>
            <a:ext cx="2031949" cy="64008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7" y="3931920"/>
            <a:ext cx="2031949" cy="64008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7796" y="3931920"/>
            <a:ext cx="2031949" cy="6400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59746" y="3931920"/>
            <a:ext cx="2031949" cy="6400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82296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8E8"/>
                </a:solidFill>
                <a:latin typeface="Calibri"/>
              </a:rPr>
              <a:t>PRAMA · THE INSTRUMENT OF VALID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9573493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Prama : Evidence-First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Data Quality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971800"/>
            <a:ext cx="155448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27248"/>
            <a:ext cx="90416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FFFFFF"/>
                </a:solidFill>
                <a:latin typeface="Georgia"/>
              </a:rPr>
              <a:t>Declare it. Prove it. Trust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531860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4182E"/>
                </a:solidFill>
                <a:latin typeface="Georgia"/>
              </a:rPr>
              <a:t>Ashutosh Sinha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2B3FA8"/>
                </a:solidFill>
                <a:latin typeface="Calibri"/>
              </a:rPr>
              <a:t>September 2026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80"/>
                </a:solidFill>
                <a:latin typeface="Calibri"/>
              </a:rPr>
              <a:t>Prama 0.1.0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080" y="4114800"/>
            <a:ext cx="4680374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B3FA8"/>
                </a:solidFill>
                <a:latin typeface="Calibri"/>
              </a:rPr>
              <a:t>IN THIS DECK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1   </a:t>
            </a:r>
            <a:r>
              <a:rPr sz="950" b="0">
                <a:solidFill>
                  <a:srgbClr val="5A6480"/>
                </a:solidFill>
                <a:latin typeface="Calibri"/>
              </a:rPr>
              <a:t>Why data quality fails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2   </a:t>
            </a:r>
            <a:r>
              <a:rPr sz="950" b="0">
                <a:solidFill>
                  <a:srgbClr val="5A6480"/>
                </a:solidFill>
                <a:latin typeface="Calibri"/>
              </a:rPr>
              <a:t>Declare it: the semantic layer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3   </a:t>
            </a:r>
            <a:r>
              <a:rPr sz="950" b="0">
                <a:solidFill>
                  <a:srgbClr val="5A6480"/>
                </a:solidFill>
                <a:latin typeface="Calibri"/>
              </a:rPr>
              <a:t>The language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4   </a:t>
            </a:r>
            <a:r>
              <a:rPr sz="950" b="0">
                <a:solidFill>
                  <a:srgbClr val="5A6480"/>
                </a:solidFill>
                <a:latin typeface="Calibri"/>
              </a:rPr>
              <a:t>Prove it: evidence and reconciliation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5   </a:t>
            </a:r>
            <a:r>
              <a:rPr sz="950" b="0">
                <a:solidFill>
                  <a:srgbClr val="5A6480"/>
                </a:solidFill>
                <a:latin typeface="Calibri"/>
              </a:rPr>
              <a:t>Lineage and impact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6   </a:t>
            </a:r>
            <a:r>
              <a:rPr sz="950" b="0">
                <a:solidFill>
                  <a:srgbClr val="5A6480"/>
                </a:solidFill>
                <a:latin typeface="Calibri"/>
              </a:rPr>
              <a:t>Trust it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7   </a:t>
            </a:r>
            <a:r>
              <a:rPr sz="950" b="0">
                <a:solidFill>
                  <a:srgbClr val="5A6480"/>
                </a:solidFill>
                <a:latin typeface="Calibri"/>
              </a:rPr>
              <a:t>AI that never adjudicates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8   </a:t>
            </a:r>
            <a:r>
              <a:rPr sz="950" b="0">
                <a:solidFill>
                  <a:srgbClr val="5A6480"/>
                </a:solidFill>
                <a:latin typeface="Calibri"/>
              </a:rPr>
              <a:t>How it runs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B3FA8"/>
                </a:solidFill>
                <a:latin typeface="Calibri"/>
              </a:rPr>
              <a:t>9   </a:t>
            </a:r>
            <a:r>
              <a:rPr sz="950" b="0">
                <a:solidFill>
                  <a:srgbClr val="5A6480"/>
                </a:solidFill>
                <a:latin typeface="Calibri"/>
              </a:rPr>
              <a:t>The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PRAMA · Evidence-first 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Why data quality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The dashboard is green and the number is wrong. Nobody lied; nothing was 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The question every number must answer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Four ways a data quality programme fails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What a supervisor actually asks for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Prama in one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Can you prove this number is right?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1 · Why data quality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2E"/>
                </a:solidFill>
                <a:latin typeface="Calibri"/>
              </a:rPr>
              <a:t>Every reported figure (a capital ratio, an exposure, a settled balance) eventually meets somebody who asks how you know. Most estates can answer only with a feeling.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pramā (Sanskrit): knowledge that is both true and arrived at by a reliable means. The product is named for the second half.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40509"/>
            <a:ext cx="10637215" cy="3839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“The checks passed”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Which checks, written by whom, against what declared meaning, on which rows, and where is the record?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“The dashboard is green”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Green is the absence of a failure somebody thought to look for. It is not the presence of a proof.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“The vendor tool said so”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A verdict you cannot recompute without trusting the tool that issued it is an assertion, not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Four ways a data quality programme fails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1 · Why data quality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5236311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5236311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FA8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07591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Rules restated, then drifting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56079"/>
            <a:ext cx="4870551" cy="144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The meaning of a column lives in a wiki; the check lives in a YAML file; the two are edited by different people and diverge, always in the flattering direction.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3" y="1386967"/>
            <a:ext cx="5236311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386967"/>
            <a:ext cx="5236311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023" y="1551559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FA8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1807591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Thresholds that mean nothing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2156079"/>
            <a:ext cx="4870551" cy="144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A sensitivity dial of “high” is not a false-alarm rate. Stewards learn to ignore the alerts, and then miss the one that mattered.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98455"/>
            <a:ext cx="5236311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898455"/>
            <a:ext cx="5236311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63047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FA8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19079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Verdicts without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67567"/>
            <a:ext cx="4870551" cy="144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Results overwritten each run, no record of the rule's version or the data it saw, nothing an auditor can re-verify offline.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8143" y="3898455"/>
            <a:ext cx="5236311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8143" y="3898455"/>
            <a:ext cx="5236311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1023" y="4063047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FA8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1023" y="4319079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A model deciding pass or 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1023" y="4667567"/>
            <a:ext cx="4870551" cy="144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An LLM that says “this looks fine” is persuasive and unrepeatable. In a control, persuasion is the defect.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WHAT IS EXPECTED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What a supervisor asks for, and what it 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1 · Why data quality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Prama is not legal or regulatory advice, and discharges no obligation by itself: `prama pack claims` lists what the banking pack does not claim.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9035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15902"/>
                <a:gridCol w="3710656"/>
                <a:gridCol w="3710656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The expectation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takes in practice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Where Prama does it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Accuracy and integrity (BCBS 239, principle 3)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Controls tied to declared meaning, reconciled to source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Semantic layer, derived controls, RECONCILE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Completeness (principle 4)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Coverage measured against what is critical, not counted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Coverage analysis names the uncovered remainder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9290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Timeliness (principle 5)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Arrival declared and checked, with calendars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Rhythm on the dataset; business calendars in the banking pack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Documented, validated, auditable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 record that can be checked without the system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Hash-chained evidence, Merkle root, offline verifier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Human accountability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 named owner approves each rule; no model decides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Proposals, approval, the no-model-verdict guard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PRAMA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Declare it. Prove it. Trust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1 · Why data quality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3375050" cy="1828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337505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Declare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0047"/>
            <a:ext cx="3009290" cy="1187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Owners say what a dataset means: its grain, domains, relationships, business context. Controls are derived from that, not restated.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8322" y="1386967"/>
            <a:ext cx="3375050" cy="1828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8322" y="1386967"/>
            <a:ext cx="337505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1202" y="1551559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Prove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1202" y="1900047"/>
            <a:ext cx="3009290" cy="1187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A deterministic engine runs each control where the data lives and writes a hash-chained, independently verifiable record.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79722" y="230136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39404" y="1386967"/>
            <a:ext cx="3375050" cy="1828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9404" y="1386967"/>
            <a:ext cx="337505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2284" y="1551559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Trust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2284" y="1900047"/>
            <a:ext cx="3009290" cy="1187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Calibrated alerts, scores derived from evidence, trust propagated along lineage, and every defect traced to what it reaches.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10804" y="230136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3426079"/>
            <a:ext cx="10637215" cy="28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Models author, rank, explain and summarise. A versioned engine decides. An architecture test fails the build if a model's output can reach a verdict.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One application database, two schema files as the authority, no migrations; remote agents run checks beside data that must not 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Declare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The business semantic layer: say once what data means, and let the controls follow from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Datasets, grain and attributes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Controls derived from declarations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Coverage, and the remainder named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Metadata, glossary and business context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Proposals: the only way anything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THE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What an owner declares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2 · Declare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2E"/>
                </a:solidFill>
                <a:latin typeface="Calibri"/>
              </a:rPr>
              <a:t>Every term below is something the owner already knows. None of it is a quality rule, and all of it implies some.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040509"/>
          <a:ext cx="10637214" cy="35768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2670"/>
                <a:gridCol w="4052272"/>
                <a:gridCol w="4052272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Declared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implies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one row per trade (trade_id)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Uniqueness and duplication controls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Value domain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currency in ISO 4217; notional ≥ 0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Validity controls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Mandatory, CDE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account_id is critical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Completeness; weight in the score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trades.account_id → accounts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Referential integrity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Equivalence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positions agree with the ledger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 reconciliation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Rhythm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daily, by 06:30 on TARGET2 days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Arrival and freshness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Business context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“used for sanctions screening”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Search; explanations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DERIVE, NEVER RESTATE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Controls come from declarations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2 · Declare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Declaration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Grain, domains and relationships, approved by the owner.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551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551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3431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3431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Deterministic rules turn each fact into PQL, quoting the reason.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71951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23863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6743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3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Queued with its provenance; a person accepts or rejects it.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5263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47175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7175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0055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0055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Active, versioned, and re-derived when the declaration changes.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18575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3334639"/>
            <a:ext cx="10637215" cy="2910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Change the declaration and the controls change with it. There is no second copy of the meaning to fall out of date.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 rejected proposal stays rejected: its content hash is remembered, so regeneration does not refill the queue.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Mining (keys, dependencies) and declaration can propose the same rule; it becomes one corroborated proposal, ranked higher.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The uncovered remainder is named, not rounded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2 · Declare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tests/propose/test_wave6_acceptance.py: test_a_dataset_declaration_alone_cannot_cover_its_own_cdes and test_the_uncovered_remainder_is_named_rather_than_rounded_away.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What coverage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Each critical data element against the dimensions it needs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Which controls discharge which requirement, and on what evidence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What the declarations alone cannot reach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An honest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 dataset declaration alone cannot cover its own CDEs: some checks need a second dataset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Declaring the relationships closes the gap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Both facts are tests in the suite, so neither can quietly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Rules grow from metadata an owner fills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2 · Declare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2E"/>
                </a:solidFill>
                <a:latin typeface="Calibri"/>
              </a:rPr>
              <a:t>Templates define typed fields. A field can carry a rule, so filling it in proposes a check, with the literal typed and quoted by the engine, never pasted.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Case study 7 declares three datasets with no rules at all; every check that runs comes from metadata or correlation, and all four planted defects are found.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2040509"/>
          <a:ext cx="10637213" cy="25380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43681"/>
                <a:gridCol w="2543681"/>
                <a:gridCol w="5549851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Field on an attribute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Proposed control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mandatory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t.col IS NOT NULL DIMENSION completeness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unique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t.col IS UNIQUE DIMENSION uniqueness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allowed values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RETAIL, SME, CORPORATE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t.col IN (…) DIMENSION validity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minimum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t.col &gt;= 0 DIMENSION validity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key (dataset)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 HAS UNIQUE KEY (…)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Same meaning, different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2 · Declare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485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Grouped by concept, glossary term or semantic type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customers.lei and accounts.customer_lei are both bound to the term LEI.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The owner of a meaning is derived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A column in the grain, in the declared key, or declared unique owns it; the others must reference it.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Proposed: a referential check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CHECK accounts.customer_lei REFERENCES customers.lei DIMENSION integrity.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Reported: held inconsistently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The same identifier marked PII in one dataset and not the other is a finding for a steward, not a check: which side is right is a business decision.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Proposals are the only way anything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2 · Declare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485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One channel for every author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Declarations, mining, metadata, lineage, correlation and models all produce proposals. None of them activates a control.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A person approves, by tier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Nothing activates without a named approver; tier-1 and tier-2 changes need approval.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Every change is a version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A control's PQL, its reason and its approver are kept; nothing is edited in place.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Discussion sits on the object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Comment threads with mentions reach each person's queue.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The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PQL: one statement a data owner can read and an engine can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What a control looks like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One IR, several engines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Fused scans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Five verdicts, not two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When PQL cannot say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PQL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What a control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3 · The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Every control ends BECAUSE '…': the reason is part of the control, and `prama control explain` reads it back as a sentence an owner can check.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30371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5618"/>
                <a:gridCol w="8591596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PQL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trades.notional &gt;= 0 SEVERITY critical DIMENSION validity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Uniqueness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trades HAS UNIQUE KEY (trade_id)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Referential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trades.account_id REFERENCES accounts.account_id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Freshness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trades IS FRESH WITHIN 4 HOURS OF '06:30' CALENDAR 'TARGET2'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Reconciliation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RECONCILE subledger AGAINST general_ledger ON (account, posting_date) COMPARING amount = balance_eur WITHIN 0.01 EUR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Custom SQL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trades CUSTOM SQL """SELECT … AS violating_rows …"""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Delegate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 trades USING DELEGATE 'acme.settlement_cycle'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COMPILATION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One IR, several engines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3 · The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PQL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Parsed, linted, and type-checked against the catalogue of schemas.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551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551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3431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3431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Resolved and versioned; the thing that is hashed into evidence.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71951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23863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6743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3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Compiled to SQLite, DuckDB or PostgreSQL SQL, pushed to the data.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5263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47175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7175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0055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0055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Scanned and violating rows come back; the engine judges.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18575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3334639"/>
            <a:ext cx="10637215" cy="2910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 conformance suite runs the same IR on each engine and requires the same verdict on the same data: assert the executed verdict, not plausible SQL.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`prama control compile --fuse` groups controls over one table into shared scans: in the fusion test, 400 controls run as 160 scans.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Pushdown coverage is published: `prama control functions` says what runs on which engine, and what does 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VERDICTS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Five verdicts, because two would lie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3 · The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Nulls are UNKNOWN and count as violations by default: an account that names nobody does not reference a customer. TREAT UNKNOWN AS PASS says otherwise, in the control, where a reviewer can see it.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281114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36913"/>
                <a:gridCol w="4526474"/>
                <a:gridCol w="4073827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it is separate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exact test ran and found no violation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only green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Violations found above the threshold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With counts and a sample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 screen ran, or the metrics cannot be judged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Zero from a lower bound is not a 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control could not run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Checked nothing, and says so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skipped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Not run in this 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Recorded, never counted as a 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BEYOND PQL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When the language cannot say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3 · The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Case study 5 runs a settlement-cycle delegate locally and on a remote agent; the delegate returns counts, and Prama judges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CHECK CUSTOM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SQL is the author's; the verdict is still the engine's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One read-only SELECT returning violating_rows and scanned_rows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Same evidence, same approval, same versioning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DQ delegates, in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 class behind the DqDelegate interface, named from PQL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Run in a separate worker process, streamed in batches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Uploaded through the console with checks and an approval step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 test kit for the author's own CI; remote agents run them beside the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Prove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A verdict is worth what its record is worth. The record must survive without the system that wrote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What one piece of evidence holds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A chain, a root, and an offline check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Reconciliation, and the break workbench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A timing allowance that removes only noise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What one record of a run 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4 · Prove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Evidence has its own store (EvidenceBase), its own retention and its own immutability, separate from the platform schema.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29208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78827"/>
                <a:gridCol w="6158387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it is there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The plan's identity, the control and its version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Which rule ran, exactly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The engine, binding and parameters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Where it ran, and against what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Metrics: scanned and violating rows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measurement, before any judgement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Verdict, dimensions and criticality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judgement, and what it weighs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A digest of the sampled rows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What was shown, without keeping the rows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Previous, content and record hashes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Append-only: an edit breaks the chain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Checked without trusting Prama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4 · Prove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Hash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Each record commits to the one before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551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551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3431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Merkle 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3431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One digest summarises a whole run's evidence.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71951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23863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6743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Sealed bundle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3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Manifest and SBOM, HMAC-sealed; optionally Ed25519-signed.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5263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47175" y="1386967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7175" y="1386967"/>
            <a:ext cx="2467279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0055" y="1551559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Offline verifier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0055" y="1900047"/>
            <a:ext cx="210151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A standalone script re-derives all of it, importing nothing.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18575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3334639"/>
            <a:ext cx="10637215" cy="2910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python3 scripts/verify_evidence.py bundle/ runs on an auditor's machine with only the standard library. It does not import Prama.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prama bundle verify exits 3 when a bundle must not be installed: a failure an automated pipeline cannot mistake for success.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Every case study ends by printing its evidence chain as verified, with the Merkle root.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RECONCILE says the whole agreement in one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4 · Prove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Breaks are classified as genuine, missing or extra, and each lands in the break workbench with an owner: explain it, accept it, or fix it.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08425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38680"/>
                <a:gridCol w="5598534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Clause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ON (account, cost_centre, posting_date)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How rows match; many can sum into one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COMPARING amount = balance_eur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Columns may have different names on each side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WITHIN 0.01 EUR OR 0.1%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Materiality; a break needs both bounds breached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NORMALISING currency TO 'EUR' USING RATES fx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Rates are a dataset, like any other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OFFSET BY 1 DAY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ledger catching up overnight is not a break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CASE STUDY 6 · MONTH-END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The subledger against the general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4 · Prove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2508427" cy="11430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41148" cy="1143000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B3FA8"/>
                </a:solidFill>
                <a:latin typeface="Georg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80"/>
                </a:solidFill>
                <a:latin typeface="Calibri"/>
              </a:rPr>
              <a:t>breaks needing a person: exactly the planted 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6835" y="1386967"/>
            <a:ext cx="2508427" cy="11430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6835" y="1386967"/>
            <a:ext cx="41148" cy="1143000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8003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B3FA8"/>
                </a:solidFill>
                <a:latin typeface="Georgia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8003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80"/>
                </a:solidFill>
                <a:latin typeface="Calibri"/>
              </a:rPr>
              <a:t>breaks reported without OFFSET BY 1 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386967"/>
            <a:ext cx="2508427" cy="11430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386967"/>
            <a:ext cx="41148" cy="1143000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B3FA8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80"/>
                </a:solidFill>
                <a:latin typeface="Calibri"/>
              </a:rPr>
              <a:t>currencies normalised to EUR with the treasury's closing rates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6027" y="1386967"/>
            <a:ext cx="2508427" cy="11430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6027" y="1386967"/>
            <a:ext cx="41148" cy="1143000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195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B3FA8"/>
                </a:solidFill>
                <a:latin typeface="Georgia"/>
              </a:rPr>
              <a:t>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195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80"/>
                </a:solidFill>
                <a:latin typeface="Calibri"/>
              </a:rPr>
              <a:t>false breaks in the first build: a rounding convention, found and documented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740279"/>
            <a:ext cx="10637215" cy="3505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Planted: three manual journals, one day that never reached the ledger, one ledger-only account, and two late entries that must not fail the close.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counterfactual is part of the study: each late entry without the offset becomes one missing and one extra. The allowance removes noise and nothing real.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ledger converts each day's total and rounds once; converting each entry differs by cents. A real difference between systems, stated, not assumed away.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Lineage and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Read from the code that moves the data, never drawn by hand, and never executed.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What code intake reads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Parsed and inferred, kept apart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The blast radius of a defect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Controls carried downstream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What column lineage cannot see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CODE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What Prama reads to find lineage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5 · Lineage and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A ZIP or a repository is extracted into quarantine, parsed in a separate process, and deleted. A test plants code that writes a marker file if executed.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1939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18974"/>
                <a:gridCol w="4478827"/>
                <a:gridCol w="2239413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How it is read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Edge status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SQL scripts and views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Parsed with sqlglot, dialect-aware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T-SQL, PL/SQL and DB2 procedures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Procedure readers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PySpark, pandas, Airflow SQL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Python syntax tree, never run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Power BI models (.bim)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Tables, Power Query, measures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Anything the readers cannot read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Pattern fallback, or a model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inferred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Manta, Alation exports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Imported beside Prama's own parse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as stated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Where a defect goes, and how much of it arrives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5 · Lineage and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2E"/>
                </a:solidFill>
                <a:latin typeface="Calibri"/>
              </a:rPr>
              <a:t>The blast radius follows edges downstream and attenuates by transform: a copy carries the whole defect, an aggregation dilutes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Case study 8: two SQL scripts and a Power BI model give 12 parsed column edges; the defect is traced from the raw feed to the measure a risk committee reads.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40509"/>
            <a:ext cx="10637215" cy="36379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raw.trades.notional_amt → stg.trades.notional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100% of the defect, 1 hop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→ mart.positions.exposure_usd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35%, 2 hops: summed with FX rates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→ the Risk Dashboard's Exposure column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35%, 3 hops: a rename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→ its Total Exposure measure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12%, 4 hops: aggregated again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LINEAGE-DERIVED PROPOSALS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A control on a column is owed by every faithful 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5 · Lineage and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Case study 8 found both defects this slide depends on: a proposed RECONCILE with no tolerance could not run, and a filtered copy reported 118 cancelled trades as breaks. Both are fixed, each with a test that fails on the old code.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177234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6393"/>
                <a:gridCol w="5194919"/>
                <a:gridCol w="3215902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Held when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Propagated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source column's control, on the copy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edge is inferred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Referential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Each copied key must exist at its source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edge is inferred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Reconcile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copy agrees with its source, exactly (WITHIN 0)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Inferred, or the copy is filtered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AN HONEST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What column lineage cannot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5 · Lineage and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Lineage carries a control downstream; it does not replace the control at the source. That is the design, and case study 8 is its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The defect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Four trades with currency 'usd' in lower case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Three are staged; the mart joins FX rates on currency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Those trades have no rate, and silently leave the mart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What each part of Prama sees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raw column's control: 4 of 2,000 rows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propagated control on staging: 3 of 1,882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blast radius: stops at staging, since a join key is not a value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mart: no error, no null; 605,000,000 of notional simply gone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Trust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An alert level that means what it says, and a score derived from evidence rather than asserted beside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Conformal alerting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Scores derived from evidence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Trust along lineage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Usage: a priority, never a score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An alert level that means what it says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6 · Trust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485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Conformal p-values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p = (1 + #{sᵢ ≥ s}) / (n + 1). Under exchangeability a normal point alerts at level α with probability at most α, in finite samples, with no distributional assumption.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The +1 is the guarantee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Drop it and a point beyond everything seen gets p = 0: the false-alarm rate becomes 1/n, not α.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Drift, said out loud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Weighted and adaptive variants trade exactness for robustness, and say by how much.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Cold start, labelled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Before there is history, a monitor starts from priors (semantic type, declared rhythm, sibling datasets) and says so on every verdict; it switches to calibration when history allows, and announces that too.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Derived from evidence, propagated along lineage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6 · Trust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Usage signals (from query history) rank what to control next: most used, least controlled. They are never an input to a score, since popularity is not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A dataset's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Computed from its latest evidence, by dimension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Weighted by criticality and CDEs, never typed in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An error or an indeterminate verdict is not a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Trust along lineage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 consumer's trust reflects its ancestry, not only its own tests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Propagated along paths by a stated combination rule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Ranked by trust, a report shows its weakest input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Georgia"/>
              </a:rPr>
              <a:t>AI that never adjudicates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Models author, rank, explain and summarise. A deterministic, versioned engine decides.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The line, and the test that holds it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One gateway for every model call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Finding the dataset fit for a purpose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THE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What a model may do, and what it may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7 · AI that never adjudicates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tests/architecture/test_layering.py fails the build if model output can reach a verdict (CON-007, NFR-AI-002). A guard wired into no test is a guard somebody forgets.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A model may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Author a proposed control from a document or an example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Suggest lineage for code no reader could parse, marked inferred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Rank datasets for a purpose, and explain the ranking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Summarise an incident, or explain a failure in plain words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A model may not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Pass or fail data, directly or through any code path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Activate a control: that is a person's approval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Turn an inferred lineage edge into a parsed one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Change a score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THE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One gateway for every model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7 · AI that never adjudicates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86967"/>
          <a:ext cx="10637214" cy="30305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2670"/>
                <a:gridCol w="8104544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Purposes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author, explain, summarise, lineage, curate, discover, embed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Routes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Each purpose has an ordered route of provider and model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Providers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OpenAI-compatible (Ollama, vLLM), Anthropic, Bedrock, Azure, Vertex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 mock provider: with nothing configured, Prama works and says so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Call ledger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Every call recorded and hash-chained; prama llm verify checks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Evaluation gate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 route activates only after its evaluation suite passes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Redaction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Secrets, card numbers, IBANs and emails withheld, both ways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FITNESS FOR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Which dataset should I use for this?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7 · AI that never adjudicates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3375050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337505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0047"/>
            <a:ext cx="3009290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Each dataset's name, description, business context, metadata, terms.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8322" y="1386967"/>
            <a:ext cx="3375050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8322" y="1386967"/>
            <a:ext cx="337505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1202" y="1551559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1202" y="1900047"/>
            <a:ext cx="3009290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Embeddings when a model is configured; BM25 relevance when not.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79722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39404" y="1386967"/>
            <a:ext cx="3375050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9404" y="1386967"/>
            <a:ext cx="337505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2284" y="1551559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2284" y="1900047"/>
            <a:ext cx="3009290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The attributes whose own text best matches, so the reader sees why.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10804" y="2255647"/>
            <a:ext cx="201168" cy="0"/>
          </a:xfrm>
          <a:prstGeom prst="line">
            <a:avLst/>
          </a:prstGeom>
          <a:ln w="25400">
            <a:solidFill>
              <a:srgbClr val="2B3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3334639"/>
            <a:ext cx="10637215" cy="2910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answer always says which ranking was used. Nothing here reads the data, and nothing here touches a score.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Case study 7: “who is the customer and where are they registered, for sanctions screening” returns Customers, matching legal_name, customer_id and lei.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The better owners describe their data, the better this works: the incentive points the right way.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How it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One application, one database, and agents beside data that must not move.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The system in context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One schema, two engines, no migrations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Agents, and what may leave the machine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Security and tenancy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The system in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8 · How it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79491" y="2261476"/>
            <a:ext cx="1096942" cy="0"/>
          </a:xfrm>
          <a:prstGeom prst="line">
            <a:avLst/>
          </a:prstGeom>
          <a:ln w="19050">
            <a:solidFill>
              <a:srgbClr val="5A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15261" y="2261476"/>
            <a:ext cx="1096942" cy="0"/>
          </a:xfrm>
          <a:prstGeom prst="line">
            <a:avLst/>
          </a:prstGeom>
          <a:ln w="19050">
            <a:solidFill>
              <a:srgbClr val="5A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3172561"/>
            <a:ext cx="0" cy="1092861"/>
          </a:xfrm>
          <a:prstGeom prst="line">
            <a:avLst/>
          </a:prstGeom>
          <a:ln w="19050">
            <a:solidFill>
              <a:srgbClr val="5A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579491" y="5273675"/>
            <a:ext cx="1096942" cy="0"/>
          </a:xfrm>
          <a:prstGeom prst="line">
            <a:avLst/>
          </a:prstGeom>
          <a:ln w="19050">
            <a:solidFill>
              <a:srgbClr val="5A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15261" y="5273675"/>
            <a:ext cx="1096942" cy="0"/>
          </a:xfrm>
          <a:prstGeom prst="line">
            <a:avLst/>
          </a:prstGeom>
          <a:ln w="19050">
            <a:solidFill>
              <a:srgbClr val="5A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77240" y="1386967"/>
            <a:ext cx="2765675" cy="174901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386967"/>
            <a:ext cx="2765675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551559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Owners, stewards, auditors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57095"/>
            <a:ext cx="2399915" cy="850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Console, CLI, API, editor (LSP), assistants (MCP)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13009" y="1386967"/>
            <a:ext cx="2765675" cy="174901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13009" y="1386967"/>
            <a:ext cx="2765675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5889" y="1551559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Prama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5889" y="1900047"/>
            <a:ext cx="2399915" cy="1107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Semantic layer, PQL, derivation, proposals,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8779" y="1386967"/>
            <a:ext cx="2765675" cy="174901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8779" y="1386967"/>
            <a:ext cx="2765675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31659" y="1551559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LLM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1659" y="1900047"/>
            <a:ext cx="2399915" cy="1107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Purposes, routes, call ledger; mock by default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301998"/>
            <a:ext cx="2765675" cy="194335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301998"/>
            <a:ext cx="2765675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466590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Application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072125"/>
            <a:ext cx="2399915" cy="1045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SQLite or PostgreSQL; evidence in its own store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13009" y="4301998"/>
            <a:ext cx="2765675" cy="194335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13009" y="4301998"/>
            <a:ext cx="2765675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5889" y="4466590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5889" y="4815078"/>
            <a:ext cx="2399915" cy="13022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Compiled SQL pushed down; fused scans; delegates out of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8779" y="4301998"/>
            <a:ext cx="2765675" cy="194335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8779" y="4301998"/>
            <a:ext cx="2765675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31659" y="4466590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Remote 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1659" y="4815078"/>
            <a:ext cx="2399915" cy="13022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Beside the data; only counts, verdicts and hashes return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One schema, two engines, no migrations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8 · How it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The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99031"/>
            <a:ext cx="5135727" cy="434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schema/sqlite.sql and schema/postgres.sql are the authority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Byte-identical apart from their headers; a test fails if not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Four column types only: VARCHAR(n), TEXT, INTEGER, REAL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A table changes by editing its CREATE TABLE, never with ALTER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46"/>
                </a:solidFill>
                <a:latin typeface="Calibri"/>
              </a:rPr>
              <a:t>What follows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899031"/>
            <a:ext cx="5135727" cy="434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prama db init applies the schema idempotently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prama db verify fails loudly on drift; nothing is repaired silently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Identifiers are ULIDs minted client-side: a retry reuses one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2B3FA8"/>
                </a:solidFill>
                <a:latin typeface="Calibri"/>
              </a:rPr>
              <a:t>▪  </a:t>
            </a:r>
            <a:r>
              <a:rPr sz="1800" b="0">
                <a:solidFill>
                  <a:srgbClr val="14182E"/>
                </a:solidFill>
                <a:latin typeface="Calibri"/>
              </a:rPr>
              <a:t>Only prama/db imports SQLAlchemy; everything else uses DAOs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DISTRIBUTED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Agents, and what may leave the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8 · How it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2E"/>
                </a:solidFill>
                <a:latin typeface="Calibri"/>
              </a:rPr>
              <a:t>An agent runs beside the data so the data does not travel. What crosses the boundary is declared, enforced at the agent, and recorded.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Agents take work under leases, spool when the centre is unreachable, and run the delegates their configuration admits (case study 5).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2040509"/>
          <a:ext cx="10637214" cy="204546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2670"/>
                <a:gridCol w="5065340"/>
                <a:gridCol w="3039204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Always crosses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Counts, verdicts, plan identities, hashes, timings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Facts about data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By declaration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Samples of failing rows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Only under a stated policy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Never crosses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data itself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Not configurable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Security and tenancy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8 · How it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3436010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343601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Tenants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0047"/>
            <a:ext cx="3070250" cy="170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Every row carries its tenant; one database serves many estates.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7842" y="1386967"/>
            <a:ext cx="3436010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7842" y="1386967"/>
            <a:ext cx="343601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0722" y="1551559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Roles and scopes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0722" y="1900047"/>
            <a:ext cx="3070250" cy="170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Mutating routes need write scopes; a test checks every route.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8444" y="1386967"/>
            <a:ext cx="3436010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8444" y="1386967"/>
            <a:ext cx="343601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1324" y="1551559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Sign-in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324" y="1900047"/>
            <a:ext cx="3070250" cy="170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Passwords hashed beside their column; OIDC single sign-on.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898455"/>
            <a:ext cx="3436010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898455"/>
            <a:ext cx="343601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63047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API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11535"/>
            <a:ext cx="3070250" cy="170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Shown once; a key cannot exceed its holder's rights.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7842" y="3898455"/>
            <a:ext cx="3436010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7842" y="3898455"/>
            <a:ext cx="343601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0722" y="4063047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Secrets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0722" y="4411535"/>
            <a:ext cx="3070250" cy="170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Never in tracked config; a fresh clone refuses to boot.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8444" y="3898455"/>
            <a:ext cx="3436010" cy="234689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78444" y="3898455"/>
            <a:ext cx="343601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1324" y="4063047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E"/>
                </a:solidFill>
                <a:latin typeface="Georgia"/>
              </a:rPr>
              <a:t>Egress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1324" y="4411535"/>
            <a:ext cx="3070250" cy="170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80"/>
                </a:solidFill>
                <a:latin typeface="Calibri"/>
              </a:rPr>
              <a:t>Every outbound call is declared, and a test checks the list.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43000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43000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43000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43000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43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EB8E8"/>
                </a:solidFill>
                <a:latin typeface="Calibri"/>
              </a:rPr>
              <a:t>PART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The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AE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E8F8"/>
                </a:solidFill>
                <a:latin typeface="Calibri"/>
              </a:rPr>
              <a:t>Eight case studies, a labelled benchmark, and what Prama does not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8E8"/>
                </a:solidFill>
                <a:latin typeface="Calibri"/>
              </a:rPr>
              <a:t>IN THIS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Eight case studies, planted against found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Bounds and ablations, not a league table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What Prama does not do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4E8F8"/>
                </a:solidFill>
                <a:latin typeface="Calibri"/>
              </a:rPr>
              <a:t>Where to start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Eight studies, each planted against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9 · 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Each study writes to the application's own database under a fresh tenant, and runs in the test suite. The console shows each one under Help → Case studies.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3" cy="34134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64825"/>
                <a:gridCol w="4210564"/>
                <a:gridCol w="5761824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Trading book in SQLite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whole loop on one source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Feeds: CSV, Parquet, JSON Lines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9 negative amounts, 5 unknown statuses found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 mixed estate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Defects no single dataset can see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Expressions and plugins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Excel formulas; a third-party validator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DQ delegates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Python checks, local and on a remote agent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Month-end close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5 breaks; 9 without the timing offset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Governance from metadata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4 of 4 found, with no rule written by hand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From code to impact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12 edges; the defect traced to the dashboard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PRAMA BENCH RUN --SEED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Bounds and ablations, not a league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9 · 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2508427" cy="11430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41148" cy="1143000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B3FA8"/>
                </a:solidFill>
                <a:latin typeface="Georgia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80"/>
                </a:solidFill>
                <a:latin typeface="Calibri"/>
              </a:rPr>
              <a:t>scenarios of 200 rows, one defect 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6835" y="1386967"/>
            <a:ext cx="2508427" cy="11430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6835" y="1386967"/>
            <a:ext cx="41148" cy="1143000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8003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B3FA8"/>
                </a:solidFill>
                <a:latin typeface="Georg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8003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80"/>
                </a:solidFill>
                <a:latin typeface="Calibri"/>
              </a:rPr>
              <a:t>defect families, from structural to semantic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386967"/>
            <a:ext cx="2508427" cy="11430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386967"/>
            <a:ext cx="41148" cy="1143000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B3FA8"/>
                </a:solidFill>
                <a:latin typeface="Georgia"/>
              </a:rPr>
              <a:t>0.39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80"/>
                </a:solidFill>
                <a:latin typeface="Calibri"/>
              </a:rPr>
              <a:t>F1 of the best single-technique ablation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6027" y="1386967"/>
            <a:ext cx="2508427" cy="11430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6027" y="1386967"/>
            <a:ext cx="41148" cy="1143000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195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B3FA8"/>
                </a:solidFill>
                <a:latin typeface="Georgia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195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80"/>
                </a:solidFill>
                <a:latin typeface="Calibri"/>
              </a:rPr>
              <a:t>named competitors not run, and said 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Configuring a competitor is a job for someone incentivised to make it look good. A detector's blind spots do not appear in an aggregate F1 at all.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2740279"/>
          <a:ext cx="10637212" cy="181781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29397"/>
                <a:gridCol w="1276465"/>
                <a:gridCol w="1489210"/>
                <a:gridCol w="1276465"/>
                <a:gridCol w="2765675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Found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Blind to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E1A46"/>
                          </a:solidFill>
                          <a:latin typeface="Calibri"/>
                        </a:rPr>
                        <a:t>alert-on-everything (bound)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28/28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E1A46"/>
                          </a:solidFill>
                          <a:latin typeface="Calibri"/>
                        </a:rPr>
                        <a:t>schema-only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2/28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five of six families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E1A46"/>
                          </a:solidFill>
                          <a:latin typeface="Calibri"/>
                        </a:rPr>
                        <a:t>patterns-only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5/28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four families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E1A46"/>
                          </a:solidFill>
                          <a:latin typeface="Calibri"/>
                        </a:rPr>
                        <a:t>statistics-only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7/28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182E"/>
                          </a:solidFill>
                          <a:latin typeface="Calibri"/>
                        </a:rPr>
                        <a:t>relational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What Prama does not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9 · 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485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It does not decide what is true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It establishes whether what you declared holds, and proves it did.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It does not repair data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A defect is fixed at its source by its owner; Prama records that it was.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It does not let a model judge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Not as a fallback, not with a confidence threshold, not at all.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It does not read mainframe code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Lineage covers SQL, procedures, Python jobs, Airflow and Power BI; not COBOL or JCL.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2B3FA8"/>
                </a:solidFill>
                <a:latin typeface="Calibri"/>
              </a:rPr>
              <a:t>▪  </a:t>
            </a:r>
            <a:r>
              <a:rPr sz="2000" b="1">
                <a:solidFill>
                  <a:srgbClr val="14182E"/>
                </a:solidFill>
                <a:latin typeface="Calibri"/>
              </a:rPr>
              <a:t>It does not discharge a regulation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A6480"/>
                </a:solidFill>
                <a:latin typeface="Calibri"/>
              </a:rPr>
              <a:t>It supplies evidence; `prama pack claims` lists what the banking pack does not claim.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FA8"/>
                </a:solidFill>
                <a:latin typeface="Calibri"/>
              </a:rPr>
              <a:t>WHERE TO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182E"/>
                </a:solidFill>
                <a:latin typeface="Georgia"/>
              </a:rPr>
              <a:t>An afternoon, in six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6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D"/>
                </a:solidFill>
                <a:latin typeface="Calibri"/>
              </a:rPr>
              <a:t>9 · 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3AD"/>
                </a:solidFill>
                <a:latin typeface="Calibri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2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80"/>
                </a:solidFill>
                <a:latin typeface="Calibri"/>
              </a:rPr>
              <a:t>QUICKSTART.md has the full path, including what each refusal means. The research paper in docs/paper/ has the formal argument and its proofs.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1939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71874"/>
                <a:gridCol w="5065340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2296" marR="64008" marT="32004" marB="32004" anchor="ctr">
                    <a:solidFill>
                      <a:srgbClr val="2B3FA8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prama db init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Applies the schema to the configured database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prama tenant create acme-bank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Creates the estate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prama principal create alice --admin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Somebody who can sign 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prama serve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The console and the API, on one port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python case-studies/01-trading-book-sqlite/run.py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Real evidence in the console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E1A46"/>
                          </a:solidFill>
                          <a:latin typeface="Calibri"/>
                        </a:rPr>
                        <a:t>prama control explain suite.pql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182E"/>
                          </a:solidFill>
                          <a:latin typeface="Calibri"/>
                        </a:rPr>
                        <a:t>Each control as a sentence an owner reads</a:t>
                      </a:r>
                    </a:p>
                  </a:txBody>
                  <a:tcPr marL="82296" marR="64008" marT="32004" marB="32004"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 — Evidence-First Data Quality</dc:title>
  <dc:subject>Why data quality fails, what Prama does about it, and the evidence</dc:subject>
  <dc:creator>Ashutosh Sinha</dc:creator>
  <cp:keywords>Prama; data quality; evidence</cp:keywords>
  <dc:description>Copyright (c) 2026 Ashutosh Sinha. All rights reserved.</dc:description>
  <cp:lastModifiedBy>Ashutosh Sinha</cp:lastModifiedBy>
  <cp:revision>1</cp:revision>
  <dcterms:created xsi:type="dcterms:W3CDTF">2026-09-28T12:00:00Z</dcterms:created>
  <dcterms:modified xsi:type="dcterms:W3CDTF">2026-09-28T12:00:00Z</dcterms:modified>
  <cp:category/>
</cp:coreProperties>
</file>