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638232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C6CF"/>
                </a:solidFill>
                <a:latin typeface="Calibri"/>
              </a:rPr>
              <a:t>PRAMA · THE INSTRUMENT OF VALID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6169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Calibri"/>
              </a:rPr>
              <a:t>Prama — Evidence-First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Calibri"/>
              </a:rP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6169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F3C6CF"/>
                </a:solidFill>
                <a:latin typeface="Calibri"/>
              </a:rPr>
              <a:t>Declare it. Prove it. Trust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886200"/>
            <a:ext cx="289560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8240" y="3886200"/>
            <a:ext cx="289560" cy="64008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47800" y="3886200"/>
            <a:ext cx="289560" cy="64008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37360" y="3886200"/>
            <a:ext cx="289560" cy="64008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26920" y="3886200"/>
            <a:ext cx="289560" cy="6400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16480" y="3886200"/>
            <a:ext cx="289560" cy="6400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53186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Ashutosh Sinha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F3C6CF"/>
                </a:solidFill>
                <a:latin typeface="Calibri"/>
              </a:rPr>
              <a:t>October 2026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C6CF"/>
                </a:solidFill>
                <a:latin typeface="Calibri"/>
              </a:rPr>
              <a:t>Prama 0.1.0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7802" y="914400"/>
            <a:ext cx="3616653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DECK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01   </a:t>
            </a:r>
            <a:r>
              <a:rPr sz="1400" b="0">
                <a:solidFill>
                  <a:srgbClr val="FFFFFF"/>
                </a:solidFill>
                <a:latin typeface="Calibri"/>
              </a:rPr>
              <a:t>How Prama works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02   </a:t>
            </a:r>
            <a:r>
              <a:rPr sz="1400" b="0">
                <a:solidFill>
                  <a:srgbClr val="FFFFFF"/>
                </a:solidFill>
                <a:latin typeface="Calibri"/>
              </a:rPr>
              <a:t>Declare it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03   </a:t>
            </a:r>
            <a:r>
              <a:rPr sz="1400" b="0">
                <a:solidFill>
                  <a:srgbClr val="FFFFFF"/>
                </a:solidFill>
                <a:latin typeface="Calibri"/>
              </a:rPr>
              <a:t>The language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04   </a:t>
            </a:r>
            <a:r>
              <a:rPr sz="1400" b="0">
                <a:solidFill>
                  <a:srgbClr val="FFFFFF"/>
                </a:solidFill>
                <a:latin typeface="Calibri"/>
              </a:rPr>
              <a:t>Prove it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05   </a:t>
            </a:r>
            <a:r>
              <a:rPr sz="1400" b="0">
                <a:solidFill>
                  <a:srgbClr val="FFFFFF"/>
                </a:solidFill>
                <a:latin typeface="Calibri"/>
              </a:rPr>
              <a:t>Lineage and impact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06   </a:t>
            </a:r>
            <a:r>
              <a:rPr sz="1400" b="0">
                <a:solidFill>
                  <a:srgbClr val="FFFFFF"/>
                </a:solidFill>
                <a:latin typeface="Calibri"/>
              </a:rPr>
              <a:t>Trust it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07   </a:t>
            </a:r>
            <a:r>
              <a:rPr sz="1400" b="0">
                <a:solidFill>
                  <a:srgbClr val="FFFFFF"/>
                </a:solidFill>
                <a:latin typeface="Calibri"/>
              </a:rPr>
              <a:t>AI that never adjudicates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08   </a:t>
            </a:r>
            <a:r>
              <a:rPr sz="1400" b="0">
                <a:solidFill>
                  <a:srgbClr val="FFFFFF"/>
                </a:solidFill>
                <a:latin typeface="Calibri"/>
              </a:rPr>
              <a:t>How it runs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09   </a:t>
            </a:r>
            <a:r>
              <a:rPr sz="1400" b="0">
                <a:solidFill>
                  <a:srgbClr val="FFFFFF"/>
                </a:solidFill>
                <a:latin typeface="Calibri"/>
              </a:rPr>
              <a:t>Worked examples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3C6CF"/>
                </a:solidFill>
                <a:latin typeface="Calibri"/>
              </a:rPr>
              <a:t>10   </a:t>
            </a:r>
            <a:r>
              <a:rPr sz="1400" b="0">
                <a:solidFill>
                  <a:srgbClr val="FFFFFF"/>
                </a:solidFill>
                <a:latin typeface="Calibri"/>
              </a:rPr>
              <a:t>Where Prama stands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10637215" cy="866495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10538"/>
            <a:ext cx="2871124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What is the problem?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844" y="1510538"/>
            <a:ext cx="7126010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Every reported number eventually meets somebody who asks how you know. Most estates answer with a green dashboard: the absence of a failure somebody thought to look for, not the presence of a proof.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95321"/>
            <a:ext cx="10637215" cy="866495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05049"/>
            <a:ext cx="2871124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What is Prama?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844" y="2505049"/>
            <a:ext cx="7126010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data quality control plane the business owns. Owners declare what their data means; Prama derives the controls, runs them where the data lives, and seals every verdict in a ledger anyone can verify offline.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89833"/>
            <a:ext cx="10637215" cy="866495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99561"/>
            <a:ext cx="2871124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Why does it matter?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844" y="3499561"/>
            <a:ext cx="7126010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Controls derived from declarations cannot drift from them; verdicts with evidence survive an audit; alerts with a stated false-alarm rate get believed; and no model ever decides pass or fail.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384344"/>
            <a:ext cx="10637215" cy="866495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94072"/>
            <a:ext cx="2871124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What can it do today?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844" y="4494072"/>
            <a:ext cx="7126010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semantic layer; PQL compiled to SQLite, DuckDB and PostgreSQL; reconciliation with a break workbench; a hash-chained evidence ledger; lineage read from code; an LLM gateway; agents beside the data; console, API, CLI and Python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378856"/>
            <a:ext cx="10637215" cy="866495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88584"/>
            <a:ext cx="2871124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Where is it going?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844" y="5488584"/>
            <a:ext cx="7126010" cy="647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Reference customers, verified legacy-ETL lineage scanners, certified connectors and a benchmark published against named competitors. The gaps are listed in the repository, not hidden.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Can you prove this number is right?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Every reported figure (a capital ratio, an exposure, a settled balance) eventually meets somebody who asks how you know. Most estates can answer only with a feeling.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pramā (Sanskrit): knowledge that is both true and arrived at by a reliable means. The product is named for the second half.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4352"/>
            <a:ext cx="10637215" cy="3371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“The checks passed”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Which checks, written by whom, against what declared meaning, on which rows, and where is the record?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“The dashboard is green”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Green is the absence of a failure somebody thought to look for. It is not the presence of a proof.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“The vendor tool said so”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A verdict you cannot recompute without trusting the tool that issued it is an assertion, not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E1120"/>
                </a:solidFill>
                <a:latin typeface="Calibri"/>
              </a:rPr>
              <a:t>10 principles: why data quality should be evidence-first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40663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38696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1368679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6E1120"/>
                </a:solidFill>
                <a:latin typeface="Calibri"/>
              </a:rPr>
              <a:t>Derive, never restate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6B76"/>
                </a:solidFill>
                <a:latin typeface="Calibri"/>
              </a:rPr>
              <a:t>A control derived from a declaration cannot drift from it; a restated one always does, in the flattering direction.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362301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2344013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The business owns the meaning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Owners declare grain, domains and relationships in their own words; engineers run the engines.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33763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3319348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Every verdict carries its evidence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Which rule, which version, which engine, which rows: recorded, chained and replayable.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312970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294682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Verifiable without the vendor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A standard-library script re-checks the whole chain on an auditor's machine.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288305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5270017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Five verdicts, not two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Indeterminate and error are not pass; a screen is not a proof.</a:t>
            </a:r>
          </a:p>
        </p:txBody>
      </p:sp>
      <p:sp>
        <p:nvSpPr>
          <p:cNvPr id="19" name="Oval 18"/>
          <p:cNvSpPr/>
          <p:nvPr/>
        </p:nvSpPr>
        <p:spPr>
          <a:xfrm>
            <a:off x="6301587" y="1386967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091" y="1368679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Alerts that mean what they say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Conformal p-values give a false-alarm rate you can state, not a sensitivity dial.</a:t>
            </a:r>
          </a:p>
        </p:txBody>
      </p:sp>
      <p:sp>
        <p:nvSpPr>
          <p:cNvPr id="21" name="Oval 20"/>
          <p:cNvSpPr/>
          <p:nvPr/>
        </p:nvSpPr>
        <p:spPr>
          <a:xfrm>
            <a:off x="6301587" y="2362301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091" y="2344013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6E1120"/>
                </a:solidFill>
                <a:latin typeface="Calibri"/>
              </a:rPr>
              <a:t>AI authors, never adjudicates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6B76"/>
                </a:solidFill>
                <a:latin typeface="Calibri"/>
              </a:rPr>
              <a:t>Models propose, rank and explain; a deterministic engine decides, and a test enforces it.</a:t>
            </a:r>
          </a:p>
        </p:txBody>
      </p:sp>
      <p:sp>
        <p:nvSpPr>
          <p:cNvPr id="23" name="Oval 22"/>
          <p:cNvSpPr/>
          <p:nvPr/>
        </p:nvSpPr>
        <p:spPr>
          <a:xfrm>
            <a:off x="6301587" y="3337636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5091" y="3319348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Run where the data lives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SQL pushed down; agents beside data that must not move; only facts about data travel.</a:t>
            </a:r>
          </a:p>
        </p:txBody>
      </p:sp>
      <p:sp>
        <p:nvSpPr>
          <p:cNvPr id="25" name="Oval 24"/>
          <p:cNvSpPr/>
          <p:nvPr/>
        </p:nvSpPr>
        <p:spPr>
          <a:xfrm>
            <a:off x="6301587" y="4312970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5091" y="4294682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Change is a proposal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Nothing activates without a named approver; a Tier-1 control needs a second person.</a:t>
            </a:r>
          </a:p>
        </p:txBody>
      </p:sp>
      <p:sp>
        <p:nvSpPr>
          <p:cNvPr id="27" name="Oval 26"/>
          <p:cNvSpPr/>
          <p:nvPr/>
        </p:nvSpPr>
        <p:spPr>
          <a:xfrm>
            <a:off x="6301587" y="5288305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5091" y="5270017"/>
            <a:ext cx="4509363" cy="9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Say what is not done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Coverage gaps, unread code and unclaimed regulations are listed, never rounded away.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Four ways a data quality programme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5236311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65402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21434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Rules restated, then drifting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02053"/>
            <a:ext cx="4870551" cy="1410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The meaning of a column lives in a wiki; the check lives in a YAML file; the two are edited by different people and diverge, always in the flattering direction.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400810"/>
            <a:ext cx="5236311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1023" y="1565402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1023" y="1821434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Thresholds that mean nothing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2202053"/>
            <a:ext cx="4870551" cy="1410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A sensitivity dial of “high” is not a false-alarm rate. Stewards learn to ignore the alerts, and then miss the one that mattered.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05377"/>
            <a:ext cx="5236311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69969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26001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Verdicts without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06620"/>
            <a:ext cx="4870551" cy="1410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Results overwritten each run, no record of the rule's version or the data it saw, nothing an auditor can re-verify offline.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3905377"/>
            <a:ext cx="5236311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1023" y="4069969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023" y="4326001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A model deciding pass or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023" y="4706620"/>
            <a:ext cx="4870551" cy="1410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An LLM that says “this looks fine” is persuasive and unrepeatable. In a control, persuasion is the defect.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WHAT IS 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What a supervisor asks for, and what it 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Prama is not legal or regulatory advice, and discharges no obligation by itself: `prama pack claims` lists what the banking pack does not claim.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39035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15902"/>
                <a:gridCol w="3710656"/>
                <a:gridCol w="3710656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The expectation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takes in practice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Where Prama does it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Accuracy and integrity (BCBS 239, principle 3)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Controls tied to declared meaning, reconciled to source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Semantic layer, derived controls, RECONCILE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Completeness (principle 4)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Coverage measured against what is critical, not counted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Coverage analysis names the uncovered remainder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9290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Timeliness (principle 5)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Arrival declared and checked, with calendars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Rhythm on the dataset; business calendars in the banking pack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Documented, validated, auditable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 record that can be checked without the system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Hash-chained evidence, Merkle root, offline verifier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Human accountability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 named owner approves each rule; no model decides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Proposals, approval, the no-model-verdict guard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PRAMA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Declare it. Prove it. Trust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3375050" cy="182880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65402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Declare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6021"/>
            <a:ext cx="3009290" cy="1155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Owners say what a dataset means: its grain, domains, relationships, business context. Controls are derived from that, not restated.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8322" y="1400810"/>
            <a:ext cx="3375050" cy="182880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202" y="1565402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Prove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202" y="1946021"/>
            <a:ext cx="3009290" cy="1155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A deterministic engine runs each control where the data lives and writes a hash-chained, independently verifiable record.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79722" y="231521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39404" y="1400810"/>
            <a:ext cx="3375050" cy="182880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2284" y="1565402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Trust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2284" y="1946021"/>
            <a:ext cx="3009290" cy="1155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Calibrated alerts, scores derived from evidence, trust propagated along lineage, and every defect traced to what it reaches.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0804" y="231521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439922"/>
            <a:ext cx="10637215" cy="280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Models author, rank, explain and summarise. A versioned engine decides. An architecture test fails the build if a model's output can reach a verdict.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One application database, two schema files as the authority, no migrations; remote agents run checks beside data that must not move.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How Prama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From what an owner says the data means to a verdict somebody else can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The core primitives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The system in context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The life of a control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04   </a:t>
            </a:r>
            <a:r>
              <a:rPr sz="1500" b="0">
                <a:solidFill>
                  <a:srgbClr val="FFFFFF"/>
                </a:solidFill>
                <a:latin typeface="Calibri"/>
              </a:rPr>
              <a:t>Five verdicts, not two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CORE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Six things, and who writes each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Prama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Every arrow in this table points one way: from what a person said to what the engine proved. Nothing downstream is typed in.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37402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70860"/>
                <a:gridCol w="5644236"/>
                <a:gridCol w="2822118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Primitive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Written by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Declaration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What a dataset means: grain, domains, tier, relationships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owner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One PQL statement, with the reason it exists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Derived, or a person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control resolved and hashed: what actually runs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compiler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pass, fail, indeterminate, error or skipped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engine, never a model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Evidence record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verdict, its metrics and its plan, hash-chained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engine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Score and trust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Derived from the latest evidence, along lineage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Computed, never typed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The system in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Prama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79491" y="2272827"/>
            <a:ext cx="1096942" cy="0"/>
          </a:xfrm>
          <a:prstGeom prst="line">
            <a:avLst/>
          </a:prstGeom>
          <a:ln w="19050">
            <a:solidFill>
              <a:srgbClr val="63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15261" y="2272827"/>
            <a:ext cx="1096942" cy="0"/>
          </a:xfrm>
          <a:prstGeom prst="line">
            <a:avLst/>
          </a:prstGeom>
          <a:ln w="19050">
            <a:solidFill>
              <a:srgbClr val="63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847" y="3181421"/>
            <a:ext cx="0" cy="1089538"/>
          </a:xfrm>
          <a:prstGeom prst="line">
            <a:avLst/>
          </a:prstGeom>
          <a:ln w="19050">
            <a:solidFill>
              <a:srgbClr val="63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579491" y="5276443"/>
            <a:ext cx="1096942" cy="0"/>
          </a:xfrm>
          <a:prstGeom prst="line">
            <a:avLst/>
          </a:prstGeom>
          <a:ln w="19050">
            <a:solidFill>
              <a:srgbClr val="63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15261" y="5276443"/>
            <a:ext cx="1096942" cy="0"/>
          </a:xfrm>
          <a:prstGeom prst="line">
            <a:avLst/>
          </a:prstGeom>
          <a:ln w="19050">
            <a:solidFill>
              <a:srgbClr val="63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77240" y="1400810"/>
            <a:ext cx="2765675" cy="174403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65402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Owners, stewards, auditors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35200"/>
            <a:ext cx="2399915" cy="781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Console, CLI, API, editor (LSP), assistants (MCP)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3009" y="1400810"/>
            <a:ext cx="2765675" cy="174403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5889" y="1565402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5889" y="1946021"/>
            <a:ext cx="2399915" cy="1070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Semantic layer, PQL, derivation, proposals, scoring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8779" y="1400810"/>
            <a:ext cx="2765675" cy="174403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1659" y="1565402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LLM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1659" y="1946021"/>
            <a:ext cx="2399915" cy="1070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Purposes, routes, call ledger; mock by 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07535"/>
            <a:ext cx="2765675" cy="1937816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72127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Application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141925"/>
            <a:ext cx="2399915" cy="975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SQLite or PostgreSQL; evidence in its own 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3009" y="4307535"/>
            <a:ext cx="2765675" cy="1937816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5889" y="4472127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5889" y="4852746"/>
            <a:ext cx="2399915" cy="12645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Compiled SQL pushed down; fused scans; delegates out of process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8779" y="4307535"/>
            <a:ext cx="2765675" cy="1937816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31659" y="4472127"/>
            <a:ext cx="23999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Remote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1659" y="4852746"/>
            <a:ext cx="2399915" cy="12645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Beside the data; only counts, verdicts and hashes return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The life of a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Prama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41909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1400810"/>
            <a:ext cx="4509363" cy="113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Declare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An owner states grain, rhythm, domains, relationships, metadata.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630233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2611945"/>
            <a:ext cx="4509363" cy="113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Derive and propose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Deterministic generators turn each fact into PQL.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4136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3823080"/>
            <a:ext cx="4509363" cy="113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Approve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A person accepts; the control version becomes active.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05250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5034216"/>
            <a:ext cx="4509363" cy="113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Compile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PQL parses, type-checks and lowers to a hashed plan, then SQL.</a:t>
            </a:r>
          </a:p>
        </p:txBody>
      </p:sp>
      <p:sp>
        <p:nvSpPr>
          <p:cNvPr id="17" name="Oval 16"/>
          <p:cNvSpPr/>
          <p:nvPr/>
        </p:nvSpPr>
        <p:spPr>
          <a:xfrm>
            <a:off x="6301587" y="141909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091" y="1400810"/>
            <a:ext cx="4509363" cy="113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Execute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On the server, or beside the data by an agent.</a:t>
            </a:r>
          </a:p>
        </p:txBody>
      </p:sp>
      <p:sp>
        <p:nvSpPr>
          <p:cNvPr id="19" name="Oval 18"/>
          <p:cNvSpPr/>
          <p:nvPr/>
        </p:nvSpPr>
        <p:spPr>
          <a:xfrm>
            <a:off x="6301587" y="2630233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091" y="2611945"/>
            <a:ext cx="4509363" cy="113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Judge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One deterministic function decides the verdict.</a:t>
            </a:r>
          </a:p>
        </p:txBody>
      </p:sp>
      <p:sp>
        <p:nvSpPr>
          <p:cNvPr id="21" name="Oval 20"/>
          <p:cNvSpPr/>
          <p:nvPr/>
        </p:nvSpPr>
        <p:spPr>
          <a:xfrm>
            <a:off x="6301587" y="384136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091" y="3823080"/>
            <a:ext cx="4509363" cy="113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Record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Each verdict becomes a hash-chained evidence record.</a:t>
            </a:r>
          </a:p>
        </p:txBody>
      </p:sp>
      <p:sp>
        <p:nvSpPr>
          <p:cNvPr id="23" name="Oval 22"/>
          <p:cNvSpPr/>
          <p:nvPr/>
        </p:nvSpPr>
        <p:spPr>
          <a:xfrm>
            <a:off x="6301587" y="505250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5091" y="5034216"/>
            <a:ext cx="4509363" cy="113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Score, report, alert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Everything downstream derives from the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VERDICTS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Five verdicts, because two would lie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Prama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Nulls are UNKNOWN and count as violations by default: an account that names nobody does not reference a customer. TREAT UNKNOWN AS PASS says otherwise, in the control, where a reviewer can see it.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281114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36913"/>
                <a:gridCol w="4526474"/>
                <a:gridCol w="4073827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it is separate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exact test ran and found no violation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only green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Violations found above the threshold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With counts and a sample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 screen ran, or the metrics cannot be judged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Zero from a lower bound is not a 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control could not run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Checked nothing, and says so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skipped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Not run in this 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Recorded, never counted as a 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Declare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The business semantic layer: say once what data means, and let the controls follow from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Datasets, grain and attributes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Controls derived from declarations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Coverage, and the remainder named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04   </a:t>
            </a:r>
            <a:r>
              <a:rPr sz="1500" b="0">
                <a:solidFill>
                  <a:srgbClr val="FFFFFF"/>
                </a:solidFill>
                <a:latin typeface="Calibri"/>
              </a:rPr>
              <a:t>Metadata, glossary and business context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05   </a:t>
            </a:r>
            <a:r>
              <a:rPr sz="1500" b="0">
                <a:solidFill>
                  <a:srgbClr val="FFFFFF"/>
                </a:solidFill>
                <a:latin typeface="Calibri"/>
              </a:rPr>
              <a:t>Proposals: the only way anything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What an owner declares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Declare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Every term below is something the owner already knows. None of it is a quality rule, and all of it implies some.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2054352"/>
          <a:ext cx="10637214" cy="35768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2670"/>
                <a:gridCol w="4052272"/>
                <a:gridCol w="4052272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Declared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implies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one row per trade (trade_id)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Uniqueness and duplication controls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Value domain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currency in ISO 4217; notional ≥ 0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Validity controls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Mandatory, CDE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account_id is critical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Completeness; weight in the score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trades.account_id → accounts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Referential integrity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Equivalence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positions agree with the ledger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 reconciliation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Rhythm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daily, by 06:30 on TARGET2 days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Arrival and freshness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Business context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“used for sanctions screening”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Search; explanations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DERIVE, NEVER RESTATE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Controls come from declarations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Declare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Grain, domains and relationships, approved by the owner.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0551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3431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431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Deterministic rules turn each fact into PQL, quoting the reason.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71951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23863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743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Queued with its provenance; a person accepts or rejects it.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5263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947175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Active, versioned, and re-derived when the declaration changes.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8575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3348482"/>
            <a:ext cx="10637215" cy="289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Change the declaration and the controls change with it. There is no second copy of the meaning to fall out of date.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 rejected proposal stays rejected: its content hash is remembered, so regeneration does not refill the queue.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Mining (keys, dependencies) and declaration can propose the same rule; it becomes one corroborated proposal, ranked higher.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The uncovered remainder is named, not rounded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Declare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tests/propose/test_wave6_acceptance.py: test_a_dataset_declaration_alone_cannot_cover_its_own_cdes and test_the_uncovered_remainder_is_named_rather_than_rounded_away.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What coverage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Each critical data element against the dimensions it needs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Which controls discharge which requirement, and on what evidence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What the declarations alone cannot 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3319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An honest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 dataset declaration alone cannot cover its own CDEs: some checks need a second dataset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Declaring the relationships closes the gap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Both facts are tests in the suite, so neither can quietly 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Rules grow from metadata an owner fills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Declare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Templates define typed fields. A field can carry a rule, so filling it in proposes a check, with the literal typed and quoted by the engine, never pasted.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Case study 7 declares three datasets with no rules at all; every check that runs comes from metadata or correlation, and all four planted defects are found.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2054352"/>
          <a:ext cx="10637213" cy="25380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43681"/>
                <a:gridCol w="2543681"/>
                <a:gridCol w="5549851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Field on an attribute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Proposed control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mandatory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t.col IS NOT NULL DIMENSION completeness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unique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t.col IS UNIQUE DIMENSION uniqueness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allowed values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RETAIL, SME, CORPORATE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t.col IN (…) DIMENSION validity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minimum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t.col &gt;= 0 DIMENSION validity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key (dataset)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 HAS UNIQUE KEY (…)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Same meaning, different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Declare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4844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Grouped by concept, glossary term or semantic type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customers.lei and accounts.customer_lei are both bound to the term LEI.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The owner of a meaning is derived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A column in the grain, in the declared key, or declared unique owns it; the others must reference it.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Proposed: a referential check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CHECK accounts.customer_lei REFERENCES customers.lei DIMENSION integrity.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Reported: held inconsistently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The same identifier marked PII in one dataset and not the other is a finding for a steward, not a check: which side is right is a business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Proposals are the only way anything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Declare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4844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One channel for every author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Declarations, mining, metadata, lineage, correlation and models all produce proposals. None of them activates a control.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A person approves, by tier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Nothing activates without a named approver; a Tier-1 control written by a person is started by somebody else.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Every change is a version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A control's PQL, its reason and its approver are kept; nothing is edited in place.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Discussion sits on the object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Comment threads with mentions reach each person's queue.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PQL: one statement a data owner can read and an engine can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What a control looks like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One IR, several engines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When PQL cannot say 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PQL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What a control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The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Every control ends BECAUSE '…': the reason is part of the control, and `prama control explain` reads it back as a sentence an owner can check.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35768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5618"/>
                <a:gridCol w="8591596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PQL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trades.notional &gt;= 0 SEVERITY critical DIMENSION validity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Uniqueness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trades HAS UNIQUE KEY (trade_id)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Referential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trades.account_id REFERENCES accounts.account_id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Freshness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trades.loaded_at IS FRESH WITHIN 4 HOURS OF '06:30' CALENDAR 'TARGET2'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Reconciliation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RECONCILE subledger AGAINST general_ledger ON (account, posting_date) COMPARING amount = balance_eur WITHIN 0.01 EUR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Custom SQL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trades CUSTOM SQL """SELECT … AS violating_rows …"""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Delegate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CHECK trades USING DELEGATE 'acme.settlement_cycle'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One IR, several engines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The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36B76"/>
                </a:solidFill>
                <a:latin typeface="Calibri"/>
              </a:rPr>
              <a:t>Parsed, linted, and type-checked against the catalogue of schemas.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0551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3431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431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36B76"/>
                </a:solidFill>
                <a:latin typeface="Calibri"/>
              </a:rPr>
              <a:t>Resolved and versioned; the thing that is hashed into evidence.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71951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23863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743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Compiled to SQLite, DuckDB or PostgreSQL SQL, pushed to the data.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5263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947175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Scanned and violating rows come back; the engine judges.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8575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3348482"/>
            <a:ext cx="10637215" cy="289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 conformance suite runs the same IR on each engine and requires the same verdict on the same data: assert the executed verdict, not plausible SQL.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`prama control compile --fuse` groups controls over one table into shared scans: in the fusion test, 400 controls run as 160 scans.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Pushdown coverage is published: `prama control functions` says what runs on which engine, and what does not.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BEYOND PQL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When the language cannot say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The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Case study 5 runs a settlement-cycle delegate locally and on a remote agent; the delegate returns counts, and Prama judges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CHECK CUSTOM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SQL is the author's; the verdict is still the engine's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One read-only SELECT returning violating_rows and scanned_rows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Same evidence, same approval, same versioning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3319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DQ delegates, in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 class behind the DqDelegate interface, named from PQL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Sandboxed: clean environment, audit hook, network namespace where allowed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Uploaded through the console with checks and an approval step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 test kit for the author's own CI; remote agents run them beside the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A verdict is worth what its record is worth. The record must survive without the system that wrote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What one piece of evidence holds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A chain, a root, and an offline check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Reconciliation, and the break workbench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04   </a:t>
            </a:r>
            <a:r>
              <a:rPr sz="1500" b="0">
                <a:solidFill>
                  <a:srgbClr val="FFFFFF"/>
                </a:solidFill>
                <a:latin typeface="Calibri"/>
              </a:rPr>
              <a:t>A timing allowance that removes only noise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What one record of a run 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Evidence has its own store (EvidenceBase), its own retention and its own immutability, separate from the platform schema.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29208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78827"/>
                <a:gridCol w="6158387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it is there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The plan's identity, the control and its version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Which rule ran, exactly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The engine, binding and parameters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Where it ran, and against what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Metrics: scanned and violating rows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measurement, before any judgement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Verdict, dimensions and criticality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judgement, and what it weighs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A digest of the sampled rows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What was shown, without keeping the rows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Previous, content and record hashes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Append-only: an edit breaks the chain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Checked without trusting Prama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Hash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Each record commits to the one before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0551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3431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Merkle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431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One digest summarises a whole run's evidence.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71951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23863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743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Anchored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After each run, the head is time-stamped by an RFC 3161 authority.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5263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947175" y="1400810"/>
            <a:ext cx="2467279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1565402"/>
            <a:ext cx="2101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Offline verifier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1946021"/>
            <a:ext cx="2101519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36B76"/>
                </a:solidFill>
                <a:latin typeface="Calibri"/>
              </a:rPr>
              <a:t>A standalone script re-derives all of it, importing nothing.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8575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3348482"/>
            <a:ext cx="10637215" cy="289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python3 scripts/verify_evidence.py bundle/ runs on an auditor's machine with only the standard library. It does not import Prama.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 chain rebuilt by whoever holds the key verifies on its own, and fails against its anchor: the signature is checked with openssl ts -verify.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Exported bundles are HMAC-sealed, optionally Ed25519-signed; prama bundle verify exits 3 when one must not be installed.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RECONCILE says the whole agreement in one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Breaks are classified as genuine, missing or extra, and each lands in the break workbench with an owner: explain it, accept it, or fix it.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308425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38680"/>
                <a:gridCol w="5598534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Clause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ON (account, cost_centre, posting_date)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How rows match; many can sum into one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COMPARING amount = balance_eur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Columns may have different names on each side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WITHIN 0.01 EUR OR 0.1%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Materiality; a break needs both bounds breached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NORMALISING currency TO 'EUR' USING RATES fx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Rates are a dataset, like any other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OFFSET BY 1 DAY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ledger catching up overnight is not a break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CASE STUDY 6 · MONTH-END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The subledger against the general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breaks needing a person: exactly the planted 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6835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3995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breaks reported without OFFSET BY 1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591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B76"/>
                </a:solidFill>
                <a:latin typeface="Calibri"/>
              </a:rPr>
              <a:t>currencies normalised to EUR with the treasury's closing rates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027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187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187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B76"/>
                </a:solidFill>
                <a:latin typeface="Calibri"/>
              </a:rPr>
              <a:t>false breaks in the first build: a rounding convention, found and documented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891282"/>
            <a:ext cx="10637215" cy="3354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Planted: three manual journals, one day that never reached the ledger, one ledger-only account, and two late entries that must not fail the close.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counterfactual is part of the study: each late entry without the offset becomes one missing and one extra. The allowance removes noise and nothing real.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ledger converts each day's total and rounds once; converting each entry differs by cents. A real difference between systems, stated, not assumed away.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Lineage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Read from the code that moves the data, never drawn by hand, and never executed.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What code intake reads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Parsed and inferred, kept apart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The blast radius of a defect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04   </a:t>
            </a:r>
            <a:r>
              <a:rPr sz="1500" b="0">
                <a:solidFill>
                  <a:srgbClr val="FFFFFF"/>
                </a:solidFill>
                <a:latin typeface="Calibri"/>
              </a:rPr>
              <a:t>Controls carried downstream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05   </a:t>
            </a:r>
            <a:r>
              <a:rPr sz="1500" b="0">
                <a:solidFill>
                  <a:srgbClr val="FFFFFF"/>
                </a:solidFill>
                <a:latin typeface="Calibri"/>
              </a:rPr>
              <a:t>A join decides which rows exist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CODE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What Prama reads to find lineage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Lineage and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A ZIP or a repository is extracted into quarantine, parsed in a separate process, and deleted. A test plants code that writes a marker file if executed.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31939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18974"/>
                <a:gridCol w="4478827"/>
                <a:gridCol w="2239413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How it is read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Edge status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SQL scripts and views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Parsed with sqlglot, dialect-aware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T-SQL, PL/SQL and DB2 procedures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Procedure readers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PySpark, pandas, Airflow SQL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Python syntax tree, never run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Power BI models (.bim)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Tables, Power Query, measures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parsed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Anything the readers cannot read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Pattern fallback, or a model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inferred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Manta, Alation exports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Imported beside Prama's own parse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as stated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Where a defect goes, and how much of it arrives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Lineage and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The blast radius follows edges downstream and attenuates by transform: a copy carries the whole defect, an aggregation dilutes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Case study 8: two SQL scripts and a Power BI model give 14 parsed column edges; the defect is traced from the raw feed to the measure a risk committee reads.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4352"/>
            <a:ext cx="10637215" cy="3371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raw.trades.notional_amt → stg.trades.notional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100% of the defect, 1 hop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→ mart.positions.exposure_usd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35%, 2 hops: summed with FX rates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→ the Risk Dashboard's Exposure column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35%, 3 hops: a rename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→ its Total Exposure measure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12%, 4 hops: aggregated again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LINEAGE-DERIVED PROPOSALS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A control on a column is owed by every faithful 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Lineage and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Case study 8 found the defects this slide depends on: a RECONCILE with no tolerance, a filtered copy reported as 118 breaks, and a join lineage could not see. All are fixed, each with a test that fails on the old code.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21551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6393"/>
                <a:gridCol w="5194919"/>
                <a:gridCol w="3215902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Held when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Propagated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source column's control, on the copy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edge is inferred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Referential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Each copied key must exist at its source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edge is inferred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Reconcile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copy agrees with the same rows of its source, exactly (WITHIN 0)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Inferred, or its filter cannot be carried over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Join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Every driving row's key finds its match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edge is inferred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POPULATION, NOT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A join decides which rows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Lineage and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The first version of case study 8 showed the blast radius stopping at staging. That negative result is in the paper, with the repair.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The defect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Four trades with currency 'usd' in lower case; three are staged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mart inner-joins FX rates on currency, and finds no rate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605,000,000 of notional leaves the mart: no error, no null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Value lineage cannot see it: the currency is never copied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3319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What Prama does about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Join keys are edges into the view's rows, read through CTEs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blast radius follows the rows to every column built on them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join proposes: every stg.trades.ccy exists in ref.fx_rates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That check fails on 3 of 1,882, where the defect happens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Trust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An alert level that means what it says, and a score derived from evidence rather than asserted beside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Conformal alerting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Scores derived from evidence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Trust along lineage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04   </a:t>
            </a:r>
            <a:r>
              <a:rPr sz="1500" b="0">
                <a:solidFill>
                  <a:srgbClr val="FFFFFF"/>
                </a:solidFill>
                <a:latin typeface="Calibri"/>
              </a:rPr>
              <a:t>Usage: a priority, never a score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An alert level that means what it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Trust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4844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Conformal p-values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p = (1 + #{sᵢ ≥ s}) / (n + 1). Under exchangeability a normal point alerts at level α with probability at most α, in finite samples, with no distributional assumption.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The +1 is the guarantee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Drop it and a point beyond everything seen gets p = 0: the false-alarm rate becomes 1/n, not α.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Drift, said out loud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Weighted and adaptive variants trade exactness for robustness, and say by how much.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Cold start, labelled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Before there is history, a monitor starts from priors (semantic type, declared rhythm, sibling datasets) and says so on every verdict; it switches to calibration when history allows, and announces that too.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Derived from evidence, propagated along lineage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Trust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Usage signals (from query history) rank what to control next: most used, least controlled. They are never an input to a score, since popularity is not correctness.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A dataset's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Computed from its latest evidence, by dimension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Weighted by criticality and CDEs, never typed in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An error or an indeterminate verdict is not a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3319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Trust along lineage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 consumer's trust reflects its ancestry, not only its own tests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Propagated along paths by a stated combination rule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Ranked by trust, a report shows its weakest input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133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AI that never adjudicates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57040"/>
            <a:ext cx="5956840" cy="1960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Models author, rank, explain and summarise. A deterministic, versioned engine decides.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The line, and the test that holds it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One gateway for every model call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Finding the dataset fit for a purpose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What a model may do, and what it may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AI that never adjudicates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tests/architecture/test_layering.py fails the build if model output can reach a verdict (CON-007, NFR-AI-002). A guard wired into no test is a guard somebody forgets.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A model may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Author a proposed control from a document or an example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Suggest lineage for code no reader could parse, marked inferred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Rank datasets for a purpose, and explain the ranking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Summarise an incident, or explain a failure in plain words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3319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A model may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12874"/>
            <a:ext cx="5135727" cy="3512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Pass or fail data, directly or through any code path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Activate a control: that is a person's approval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Turn an inferred lineage edge into a parsed one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Change a score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One gateway for every model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AI that never adjudicates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39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00810"/>
          <a:ext cx="10637214" cy="3686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2670"/>
                <a:gridCol w="8104544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Purposes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author, explain, summarise, lineage, curate, discover, embed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Routes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Each purpose has an ordered route of provider and model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Providers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OpenAI-compatible (Ollama, vLLM), Anthropic, Bedrock, Azure, Vertex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 mock provider: with nothing configured, Prama works and says so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Call ledger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Every call recorded and hash-chained; prama llm verify checks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Budgets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Every call, from any path, checked against them; a refusal is recorded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Evaluation gate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 route activates only after its evaluation suite passes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Redaction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Secrets, card numbers, IBANs and emails withheld, both ways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FITNESS FOR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Which dataset should I use for this?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AI that never adjudicates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3375050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65402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6021"/>
            <a:ext cx="3009290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Each dataset's name, description, business context, metadata,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8322" y="1400810"/>
            <a:ext cx="3375050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202" y="1565402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202" y="1946021"/>
            <a:ext cx="3009290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Embeddings when a model is configured; BM25 relevance when not.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79722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39404" y="1400810"/>
            <a:ext cx="3375050" cy="17373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2284" y="1565402"/>
            <a:ext cx="300929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2284" y="1946021"/>
            <a:ext cx="3009290" cy="106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The attributes whose own text best matches, so the reader sees why.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0804" y="2269490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348482"/>
            <a:ext cx="10637215" cy="289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answer always says which ranking was used. Nothing here reads the data, and nothing here touches a score.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Case study 7: “who is the customer and where are they registered, for sanctions screening” returns Customers, matching legal_name, customer_id and lei.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better owners describe their data, the better this works: the incentive points the right way.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One application, one database, and agents beside data that must not move.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Deploy anywhere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Built and tested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One schema, two engines, no migrations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04   </a:t>
            </a:r>
            <a:r>
              <a:rPr sz="1500" b="0">
                <a:solidFill>
                  <a:srgbClr val="FFFFFF"/>
                </a:solidFill>
                <a:latin typeface="Calibri"/>
              </a:rPr>
              <a:t>Agents, and what may leave the machine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05   </a:t>
            </a:r>
            <a:r>
              <a:rPr sz="1500" b="0">
                <a:solidFill>
                  <a:srgbClr val="FFFFFF"/>
                </a:solidFill>
                <a:latin typeface="Calibri"/>
              </a:rPr>
              <a:t>Security and tenancy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Deploy anywhere the data's owner allows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The same configuration file everywhere: application.yaml, with secrets only in the git-ignored local overlay or the environment.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00810"/>
            <a:ext cx="2535859" cy="4024629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65402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A laptop or a 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46021"/>
            <a:ext cx="2170099" cy="3351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One process, SQLite, `prama serve`: the console and the API on one 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7691" y="1400810"/>
            <a:ext cx="2535859" cy="4024629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0571" y="1565402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0571" y="1946021"/>
            <a:ext cx="2170099" cy="3351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The Dockerfile and Helm chart in deploy/, with PostgreSQL, probes and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8143" y="1400810"/>
            <a:ext cx="2535859" cy="4024629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1023" y="1565402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Beside the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1946021"/>
            <a:ext cx="2170099" cy="3351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The prama-agent daemon runs checks where data must not move; it always calls out.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8595" y="1400810"/>
            <a:ext cx="2535859" cy="4024629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475" y="1565402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475" y="1946021"/>
            <a:ext cx="2170099" cy="3351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Bundles sealed and verified before install; an end-to-end air-gapped install is not yet verified.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BUILT AND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Measured, not claimed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6,809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tests passing in the suite, synced from a green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6835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3995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engines run the same plans to the same verdicts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591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console pages, each with “About this page”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027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187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187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case studies, planted against found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891282"/>
            <a:ext cx="10637215" cy="3354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Four separately built packages: the server, a standard-library kernel, a Python SDK, and the agent daemon.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Python 3.12, 3.13 and 3.14 each run the whole suite; an accessibility audit and a phone-width check run every page in a real browser.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One schema, two engines, no migrations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The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12874"/>
            <a:ext cx="5135727" cy="4332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schema/sqlite.sql and schema/postgres.sql are the authority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Byte-identical apart from their headers; a test fails if not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Four column types only: VARCHAR(n), TEXT, INTEGER, REAL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A table changes by editing its CREATE TABLE, never with ALTER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400810"/>
            <a:ext cx="5135727" cy="38404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3319" y="1473962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1120"/>
                </a:solidFill>
                <a:latin typeface="Calibri"/>
              </a:rPr>
              <a:t>What follows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912874"/>
            <a:ext cx="5135727" cy="4332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prama db init applies the schema idempotently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prama db verify fails loudly on drift; nothing is repaired silently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Identifiers are ULIDs minted client-side: a retry reuses one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A51C30"/>
                </a:solidFill>
                <a:latin typeface="Calibri"/>
              </a:rPr>
              <a:t>▪  </a:t>
            </a:r>
            <a:r>
              <a:rPr sz="1800" b="0">
                <a:solidFill>
                  <a:srgbClr val="1A1A1A"/>
                </a:solidFill>
                <a:latin typeface="Calibri"/>
              </a:rPr>
              <a:t>Only prama/db imports SQLAlchemy; everything else uses DAOs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DISTRIBUTED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Agents, and what may leave the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An agent runs beside the data so the data does not travel. What crosses the boundary is declared, enforced at the agent, and recorded.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Agents take work under leases, spool when the centre is unreachable, and run the delegates their configuration admits (case study 5).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2054352"/>
          <a:ext cx="10637214" cy="204546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2670"/>
                <a:gridCol w="5065340"/>
                <a:gridCol w="3039204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Always crosses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Counts, verdicts, plan identities, hashes, timings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Facts about data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By declaration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Samples of failing rows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Only under a stated policy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Never crosses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data itself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Not configurable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Security and tenancy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3436010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65402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Tenants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6021"/>
            <a:ext cx="3070250" cy="16667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Every row carries its tenant; one database serves many estates.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7842" y="1400810"/>
            <a:ext cx="3436010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0722" y="1565402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Roles and scopes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0722" y="1946021"/>
            <a:ext cx="3070250" cy="16667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Mutating routes need write scopes; a test checks every route.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8444" y="1400810"/>
            <a:ext cx="3436010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1324" y="1565402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1324" y="1946021"/>
            <a:ext cx="3070250" cy="16667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Passwords hashed beside their column; OIDC tokens verified, console SSO to come.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05377"/>
            <a:ext cx="3436010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69969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API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50588"/>
            <a:ext cx="3070250" cy="1666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Shown once; a key cannot exceed its holder's rights.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7842" y="3905377"/>
            <a:ext cx="3436010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0722" y="4069969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Secrets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0722" y="4450588"/>
            <a:ext cx="3070250" cy="1666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Never in tracked config; a fresh clone refuses to boot.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8444" y="3905377"/>
            <a:ext cx="3436010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1324" y="4069969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Egress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324" y="4450588"/>
            <a:ext cx="3070250" cy="1666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Every outbound call is declared, and a test checks the list.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Worked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Three questions somebody actually asks, answered end to end by the case studies.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Month-end close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From code to impact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Fit for a purpose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04   </a:t>
            </a:r>
            <a:r>
              <a:rPr sz="1500" b="0">
                <a:solidFill>
                  <a:srgbClr val="FFFFFF"/>
                </a:solidFill>
                <a:latin typeface="Calibri"/>
              </a:rPr>
              <a:t>Eight studies, planted against found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05   </a:t>
            </a:r>
            <a:r>
              <a:rPr sz="1500" b="0">
                <a:solidFill>
                  <a:srgbClr val="FFFFFF"/>
                </a:solidFill>
                <a:latin typeface="Calibri"/>
              </a:rPr>
              <a:t>Bounds, ablations, and Prama itself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CASE STUDY 6 · MONTH-END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Workflow: the subledger against the general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Worked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A51C30"/>
                </a:solidFill>
                <a:latin typeface="Calibri"/>
              </a:rPr>
              <a:t>“Does the subledger agree with the general ledger at month end, and which breaks need a person?”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07964"/>
            <a:ext cx="10637215" cy="43738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908548"/>
            <a:ext cx="10180015" cy="254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Without OFFSET BY 1 DAY the same run reports 9 breaks: the allowance removes noise, and nothing real.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42058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260346"/>
            <a:ext cx="2624236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Declare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844" y="2260346"/>
            <a:ext cx="7354610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RECONCILE subledger AGAINST general_ledger … OFFSET BY 1 DAY, one statement, approved like any control.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925978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944266"/>
            <a:ext cx="2624236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Normalise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844" y="2944266"/>
            <a:ext cx="7354610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Three currencies converted to EUR at the treasury's closing rates, read as a dataset.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609898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28186"/>
            <a:ext cx="2624236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844" y="3628186"/>
            <a:ext cx="7354610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Rows matched on account, cost centre and posting date; totals compared where a key repeats.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293819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312107"/>
            <a:ext cx="2624236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844" y="4312107"/>
            <a:ext cx="7354610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Each break genuine, missing or extra; the timing allowance removes the late entries.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977739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996027"/>
            <a:ext cx="2624236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Work the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844" y="4996027"/>
            <a:ext cx="7354610" cy="5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5 breaks need a person, exactly the planted ones: assign, note, or accept with a reason.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CASE STUDY 8 · FROM CODE TO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Workflow: a defect's blast radius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Worked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A51C30"/>
                </a:solidFill>
                <a:latin typeface="Calibri"/>
              </a:rPr>
              <a:t>“If raw.trades.notional is wrong, which numbers on the risk committee's dashboard are wrong too?”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Value lineage cannot see a join dropping rows: the currency is never copied. Join keys are edges into the view's rows, so the blast radius follows them.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42058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260346"/>
            <a:ext cx="2624236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Read the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844" y="2260346"/>
            <a:ext cx="7354610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Two SQL scripts and a Power BI model give 14 parsed column edges; nothing is executed.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882392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900680"/>
            <a:ext cx="2624236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Follow the 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844" y="2900680"/>
            <a:ext cx="7354610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Staging, then the mart, then the dashboard's Exposure column and its Total Exposure measure.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522726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541014"/>
            <a:ext cx="2624236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Attenuate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844" y="3541014"/>
            <a:ext cx="7354610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100% of the defect in the copy, 35% once summed with FX rates, 12% in the measure.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163059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181348"/>
            <a:ext cx="2624236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Find the hidden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844" y="4181348"/>
            <a:ext cx="7354610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Lower-case 'usd' fails an inner join: 605,000,000 of notional leaves the mart, with no error.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803394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821682"/>
            <a:ext cx="2624236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Propose the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844" y="4821682"/>
            <a:ext cx="7354610" cy="548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Every stg.trades.ccy must exist in ref.fx_rates: it fails on 3 of 1,882, where the defect happens.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CASE STUDY 7 · GOVERNANCE FROM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Workflow: fit for a purpose, with no rule written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Worked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A51C30"/>
                </a:solidFill>
                <a:latin typeface="Calibri"/>
              </a:rPr>
              <a:t>“Which dataset should we use for sanctions screening, and is it fit for that purpose?”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07964"/>
            <a:ext cx="10637215" cy="437388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908548"/>
            <a:ext cx="10180015" cy="254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The better owners describe their data, the better this works: the incentive points the right way.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1940306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1958594"/>
            <a:ext cx="2624236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Describe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844" y="1958594"/>
            <a:ext cx="7354610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Owners fill in metadata and business context for three datasets; nobody writes a rule.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684576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702864"/>
            <a:ext cx="2624236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Propose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844" y="2702864"/>
            <a:ext cx="7354610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Fields such as mandatory, unique and allowed values propose checks, each quoting its field.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428847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47135"/>
            <a:ext cx="2624236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Correlate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844" y="3447135"/>
            <a:ext cx="7354610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customers.lei and accounts.customer_lei share the term LEI: a referential check is proposed.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173118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191406"/>
            <a:ext cx="2624236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844" y="4191406"/>
            <a:ext cx="7354610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The question returns Customers, matching legal_name, customer_id and lei, and says which ranking it used.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917389"/>
            <a:ext cx="384048" cy="384048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935677"/>
            <a:ext cx="2624236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844" y="4935677"/>
            <a:ext cx="7354610" cy="65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All four planted defects are found by checks that came from metadata or correlation.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Eight studies, each planted against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Worked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Each study writes to the application's own database under a fresh tenant, and runs in the test suite. The console shows each one under Help → Case studies.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3" cy="34134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64825"/>
                <a:gridCol w="4210564"/>
                <a:gridCol w="5761824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Trading book in SQLite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whole loop on one source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Feeds: CSV, Parquet, JSON Lines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9 negative amounts, 5 unknown statuses found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 mixed estate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Defects no single dataset can see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Expressions and plugins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Excel formulas; a third-party validator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DQ delegates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Python checks, local and on a remote agent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Month-end close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5 breaks; 9 without the timing offset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Governance from metadata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4 of 4 found, with no rule written by hand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From code to impact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Both defects traced; the FX join catches 3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PRAMA BENCH RUN --SEED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Bounds, ablations, and Prama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Worked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scenarios of 200 rows, one defect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6835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3995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defect families, from structural to semantic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0.49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591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B76"/>
                </a:solidFill>
                <a:latin typeface="Calibri"/>
              </a:rPr>
              <a:t>F1 of Prama's declared path; 0.39 for the best single technique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027" y="1400810"/>
            <a:ext cx="25084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187" y="1510538"/>
            <a:ext cx="22341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51C30"/>
                </a:solidFill>
                <a:latin typeface="Calibr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187" y="2077466"/>
            <a:ext cx="223410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B76"/>
                </a:solidFill>
                <a:latin typeface="Calibri"/>
              </a:rPr>
              <a:t>named competitors not run, and said 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Configuring a competitor is a job for someone incentivised to make it look good. A detector's blind spots do not appear in an aggregate F1 at all.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77240" y="2891282"/>
          <a:ext cx="10637212" cy="24416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29397"/>
                <a:gridCol w="1276465"/>
                <a:gridCol w="1489210"/>
                <a:gridCol w="1276465"/>
                <a:gridCol w="2765675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Found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Blind to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C0E1B"/>
                          </a:solidFill>
                          <a:latin typeface="Calibri"/>
                        </a:rPr>
                        <a:t>alert-on-everything (bound)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28/28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C0E1B"/>
                          </a:solidFill>
                          <a:latin typeface="Calibri"/>
                        </a:rPr>
                        <a:t>schema-only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2/28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five of six families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C0E1B"/>
                          </a:solidFill>
                          <a:latin typeface="Calibri"/>
                        </a:rPr>
                        <a:t>patterns-only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5/28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four families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66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C0E1B"/>
                          </a:solidFill>
                          <a:latin typeface="Calibri"/>
                        </a:rPr>
                        <a:t>statistics-only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7/28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relational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2382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C0E1B"/>
                          </a:solidFill>
                          <a:latin typeface="Calibri"/>
                        </a:rPr>
                        <a:t>prama-declared (system)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10/28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relational, temporal, semantic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051560"/>
            <a:ext cx="1325880" cy="1325880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5956840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Where Prama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4420"/>
            <a:ext cx="5956840" cy="260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C6CF"/>
                </a:solidFill>
                <a:latin typeface="Calibri"/>
              </a:rPr>
              <a:t>What is built, what comes next, how it compares, and what it does not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5057" y="1097280"/>
            <a:ext cx="38293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C6CF"/>
                </a:solidFill>
                <a:latin typeface="Calibri"/>
              </a:rPr>
              <a:t>IN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57" y="1481328"/>
            <a:ext cx="382939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01   </a:t>
            </a:r>
            <a:r>
              <a:rPr sz="1500" b="0">
                <a:solidFill>
                  <a:srgbClr val="FFFFFF"/>
                </a:solidFill>
                <a:latin typeface="Calibri"/>
              </a:rPr>
              <a:t>Built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02   </a:t>
            </a:r>
            <a:r>
              <a:rPr sz="1500" b="0">
                <a:solidFill>
                  <a:srgbClr val="FFFFFF"/>
                </a:solidFill>
                <a:latin typeface="Calibri"/>
              </a:rPr>
              <a:t>Coming next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03   </a:t>
            </a:r>
            <a:r>
              <a:rPr sz="1500" b="0">
                <a:solidFill>
                  <a:srgbClr val="FFFFFF"/>
                </a:solidFill>
                <a:latin typeface="Calibri"/>
              </a:rPr>
              <a:t>Competitive analysis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04   </a:t>
            </a:r>
            <a:r>
              <a:rPr sz="1500" b="0">
                <a:solidFill>
                  <a:srgbClr val="FFFFFF"/>
                </a:solidFill>
                <a:latin typeface="Calibri"/>
              </a:rPr>
              <a:t>What Prama does not do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3C6CF"/>
                </a:solidFill>
                <a:latin typeface="Calibri"/>
              </a:rPr>
              <a:t>05   </a:t>
            </a:r>
            <a:r>
              <a:rPr sz="1500" b="0">
                <a:solidFill>
                  <a:srgbClr val="FFFFFF"/>
                </a:solidFill>
                <a:latin typeface="Calibri"/>
              </a:rPr>
              <a:t>Where to start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Built: the whole loop,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Where Prama stands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00810"/>
            <a:ext cx="2535859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65402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Semantic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6021"/>
            <a:ext cx="2170099" cy="16667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Declarations, metadata, glossary, coverage, proposals.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7691" y="1400810"/>
            <a:ext cx="2535859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1565402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PQL on three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0571" y="2235200"/>
            <a:ext cx="2170099" cy="1377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Parsed, type-checked, compiled, fused; conformance tested.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3" y="1400810"/>
            <a:ext cx="2535859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1023" y="1565402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Evidence 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1946021"/>
            <a:ext cx="2170099" cy="16667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Hash-chained, anchored, verified offline by a stdlib script.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78595" y="1400810"/>
            <a:ext cx="2535859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475" y="1565402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Reconciliation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475" y="1946021"/>
            <a:ext cx="2170099" cy="16667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RECONCILE, FX normalisation, timing offsets, the break workbench.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05377"/>
            <a:ext cx="2535859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69969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Lineage from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39767"/>
            <a:ext cx="2170099" cy="1377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SQL, procedures, Python jobs, Power BI; impact and change review.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7691" y="3905377"/>
            <a:ext cx="2535859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60571" y="4069969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AI under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0571" y="4450588"/>
            <a:ext cx="2170099" cy="1666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One gateway, budgets on every call, stewards that only propose.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8143" y="3905377"/>
            <a:ext cx="2535859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1023" y="4069969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Agents beside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1023" y="4739767"/>
            <a:ext cx="2170099" cy="1377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Enrolled, signed, spooling daemon; only facts about data travel.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78595" y="3905377"/>
            <a:ext cx="2535859" cy="2339975"/>
          </a:xfrm>
          <a:prstGeom prst="rect">
            <a:avLst/>
          </a:prstGeom>
          <a:solidFill>
            <a:srgbClr val="FFFFFF"/>
          </a:solidFill>
          <a:ln w="11430">
            <a:solidFill>
              <a:srgbClr val="E3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1475" y="4069969"/>
            <a:ext cx="21700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1120"/>
                </a:solidFill>
                <a:latin typeface="Calibri"/>
              </a:rPr>
              <a:t>Four ways 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475" y="4450588"/>
            <a:ext cx="2170099" cy="1666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36B76"/>
                </a:solidFill>
                <a:latin typeface="Calibri"/>
              </a:rPr>
              <a:t>Console, REST API, CLI and Python SDK over one ledger.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Coming next: the gaps, listed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Where Prama stands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docs/corpus/remaining-work.md is the full list, ordered by what each item blocks; the implementation roadmap stays the authority.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141909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1400810"/>
            <a:ext cx="4509363" cy="1268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Reference customers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Design partners on named, referenceable terms.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760641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2742353"/>
            <a:ext cx="4509363" cy="1268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Legacy-ETL scanners, verified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SQL dialects are verified; SSIS, PowerCenter and DataStage shapes are only configurable.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0218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083896"/>
            <a:ext cx="4509363" cy="1268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Certified connectors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ODBC is not built; Snowflake and several JDBC dialects are written but unverified.</a:t>
            </a:r>
          </a:p>
        </p:txBody>
      </p:sp>
      <p:sp>
        <p:nvSpPr>
          <p:cNvPr id="17" name="Oval 16"/>
          <p:cNvSpPr/>
          <p:nvPr/>
        </p:nvSpPr>
        <p:spPr>
          <a:xfrm>
            <a:off x="6301587" y="1419098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091" y="1400810"/>
            <a:ext cx="4509363" cy="1268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Console single sign-on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OIDC tokens are verified; no console sign-in flow uses them yet.</a:t>
            </a:r>
          </a:p>
        </p:txBody>
      </p:sp>
      <p:sp>
        <p:nvSpPr>
          <p:cNvPr id="19" name="Oval 18"/>
          <p:cNvSpPr/>
          <p:nvPr/>
        </p:nvSpPr>
        <p:spPr>
          <a:xfrm>
            <a:off x="6301587" y="2760641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091" y="2742353"/>
            <a:ext cx="4509363" cy="1268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Air-gapped install, end to end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With a local model and no egress, verified, not argued.</a:t>
            </a:r>
          </a:p>
        </p:txBody>
      </p:sp>
      <p:sp>
        <p:nvSpPr>
          <p:cNvPr id="21" name="Oval 20"/>
          <p:cNvSpPr/>
          <p:nvPr/>
        </p:nvSpPr>
        <p:spPr>
          <a:xfrm>
            <a:off x="6301587" y="4102184"/>
            <a:ext cx="420624" cy="420624"/>
          </a:xfrm>
          <a:prstGeom prst="ellipse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091" y="4083896"/>
            <a:ext cx="4509363" cy="1268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E1120"/>
                </a:solidFill>
                <a:latin typeface="Calibri"/>
              </a:rPr>
              <a:t>A published benchmark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36B76"/>
                </a:solidFill>
                <a:latin typeface="Calibri"/>
              </a:rPr>
              <a:t>Against named competitors, configured by people with a reason to make them look good.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Prama against the categories it meets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Where Prama stands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Derived from the capability matrix in docs/corpus/20, which names the vendors in each category and says where each is genuinely better than Prama today.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1" cy="38176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19157"/>
                <a:gridCol w="1399633"/>
                <a:gridCol w="1399633"/>
                <a:gridCol w="1539596"/>
                <a:gridCol w="1539596"/>
                <a:gridCol w="1539596"/>
              </a:tblGrid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Prama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Catalogs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Lineage tools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Reconciliation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11365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Business meaning declared by owners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Declarations compile into controls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Rules portable across engines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11365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Calibrated alerts, stated false-alarm rate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Statistical monitoring maturity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Cross-system reconciliation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Evidence verifiable offline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Lineage from legacy ETL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Catalog search and curation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No, by choice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7A52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1054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5C0E1B"/>
                          </a:solidFill>
                          <a:latin typeface="Calibri"/>
                        </a:rPr>
                        <a:t>Tier-1 bank reference customers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1C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6B3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What Prama does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Where Prama stands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00810"/>
            <a:ext cx="10637215" cy="4844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It does not decide what is true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It establishes whether what you declared holds, and proves it did.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It does not repair data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A defect is fixed at its source by its owner; Prama records that it was.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It does not let a model judge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Not as a fallback, not with a confidence threshold, not at all.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It does not read mainframe code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Lineage covers SQL, procedures, Python jobs, Airflow and Power BI; not COBOL or JCL.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2000" b="1">
                <a:solidFill>
                  <a:srgbClr val="A51C30"/>
                </a:solidFill>
                <a:latin typeface="Calibri"/>
              </a:rPr>
              <a:t>▪  </a:t>
            </a:r>
            <a:r>
              <a:rPr sz="2000" b="1">
                <a:solidFill>
                  <a:srgbClr val="1A1A1A"/>
                </a:solidFill>
                <a:latin typeface="Calibri"/>
              </a:rPr>
              <a:t>It does not discharge a regulation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36B76"/>
                </a:solidFill>
                <a:latin typeface="Calibri"/>
              </a:rPr>
              <a:t>It supplies evidence; `prama pack claims` lists what the banking pack does not claim.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WHERE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486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1120"/>
                </a:solidFill>
                <a:latin typeface="Calibri"/>
              </a:rPr>
              <a:t>An afternoon, in six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72794"/>
            <a:ext cx="10637215" cy="10972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E949C"/>
                </a:solidFill>
                <a:latin typeface="Calibri"/>
              </a:rPr>
              <a:t>PRAMA  •  Ashutosh Sinha  •  Where Prama stands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949C"/>
                </a:solidFill>
                <a:latin typeface="Calibri"/>
              </a:rP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90032"/>
            <a:ext cx="10637215" cy="655320"/>
          </a:xfrm>
          <a:prstGeom prst="rect">
            <a:avLst/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90616"/>
            <a:ext cx="10180015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E1120"/>
                </a:solidFill>
                <a:latin typeface="Calibri"/>
              </a:rPr>
              <a:t>QUICKSTART.md has the full path, including what each refusal means. The research paper in docs/publications/paper/ has the formal argument and its proofs.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00810"/>
          <a:ext cx="10637214" cy="31939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71874"/>
                <a:gridCol w="5065340"/>
              </a:tblGrid>
              <a:tr h="35071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prama db init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Applies the schema to the configured database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prama tenant create acme-bank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Creates the estate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prama principal create alice --admin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Somebody who can sign in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prama serve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The console and the API, on one port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  <a:tr h="6559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python case-studies/01-trading-book-sqlite/run.py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Real evidence in the console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82841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5C0E1B"/>
                          </a:solidFill>
                          <a:latin typeface="Calibri"/>
                        </a:rPr>
                        <a:t>prama control explain suite.pql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Calibri"/>
                        </a:rPr>
                        <a:t>Each control as a sentence an owner reads</a:t>
                      </a:r>
                    </a:p>
                  </a:txBody>
                  <a:tcPr marL="82296" marR="64008" marT="32004" marB="32004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5C0E1B"/>
              </a:gs>
              <a:gs pos="55000">
                <a:srgbClr val="A51C30"/>
              </a:gs>
              <a:gs pos="100000">
                <a:srgbClr val="29335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85097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85097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F3C6CF"/>
                </a:solidFill>
                <a:latin typeface="Calibri"/>
              </a:rPr>
              <a:t>Declare it. Prove it. Trust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289560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8240" y="3611880"/>
            <a:ext cx="289560" cy="64008"/>
          </a:xfrm>
          <a:prstGeom prst="rect">
            <a:avLst/>
          </a:prstGeom>
          <a:solidFill>
            <a:srgbClr val="2F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47800" y="3611880"/>
            <a:ext cx="289560" cy="64008"/>
          </a:xfrm>
          <a:prstGeom prst="rect">
            <a:avLst/>
          </a:prstGeom>
          <a:solidFill>
            <a:srgbClr val="8CB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3611880"/>
            <a:ext cx="289560" cy="64008"/>
          </a:xfrm>
          <a:prstGeom prst="rect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26920" y="3611880"/>
            <a:ext cx="289560" cy="6400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16480" y="3611880"/>
            <a:ext cx="289560" cy="6400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85097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Ashutosh Sinha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3C6CF"/>
                </a:solidFill>
                <a:latin typeface="Calibri"/>
              </a:rPr>
              <a:t>ajsinha@gmail.com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3C6CF"/>
                </a:solidFill>
                <a:latin typeface="Calibri"/>
              </a:rPr>
              <a:t>The documentation: docs/README.md, and Help in the console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 — Evidence-First Data Quality</dc:title>
  <dc:subject>Why data quality fails, what Prama does about it, and the evidence</dc:subject>
  <dc:creator>Ashutosh Sinha</dc:creator>
  <cp:keywords>Prama; data quality; evidence</cp:keywords>
  <dc:description>Copyright (c) 2026 Ashutosh Sinha. All rights reserved.</dc:description>
  <cp:lastModifiedBy>Ashutosh Sinha</cp:lastModifiedBy>
  <cp:revision>1</cp:revision>
  <dcterms:created xsi:type="dcterms:W3CDTF">2026-09-28T12:00:00Z</dcterms:created>
  <dcterms:modified xsi:type="dcterms:W3CDTF">2026-09-28T12:00:00Z</dcterms:modified>
  <cp:category/>
</cp:coreProperties>
</file>